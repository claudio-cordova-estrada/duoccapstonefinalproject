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</p:sldIdLst>
  <p:sldSz cy="6858000" cx="12192000"/>
  <p:notesSz cx="6858000" cy="9144000"/>
  <p:embeddedFontLst>
    <p:embeddedFont>
      <p:font typeface="Lato"/>
      <p:bold r:id="rId29"/>
      <p:boldItalic r:id="rId30"/>
    </p:embeddedFont>
    <p:embeddedFont>
      <p:font typeface="Montserrat"/>
      <p:regular r:id="rId31"/>
      <p:bold r:id="rId32"/>
      <p:italic r:id="rId33"/>
      <p:boldItalic r:id="rId34"/>
    </p:embeddedFont>
    <p:embeddedFont>
      <p:font typeface="Roboto Mono"/>
      <p:bold r:id="rId35"/>
      <p:boldItalic r:id="rId3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37" roundtripDataSignature="AMtx7miSNV/ntkrDIa+HRASDwtRbnWrca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DB644530-E7AB-4248-B79D-80F947CFC1CB}">
  <a:tblStyle styleId="{DB644530-E7AB-4248-B79D-80F947CFC1CB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Lato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Montserrat-regular.fntdata"/><Relationship Id="rId30" Type="http://schemas.openxmlformats.org/officeDocument/2006/relationships/font" Target="fonts/Lato-boldItalic.fntdata"/><Relationship Id="rId11" Type="http://schemas.openxmlformats.org/officeDocument/2006/relationships/slide" Target="slides/slide6.xml"/><Relationship Id="rId33" Type="http://schemas.openxmlformats.org/officeDocument/2006/relationships/font" Target="fonts/Montserrat-italic.fntdata"/><Relationship Id="rId10" Type="http://schemas.openxmlformats.org/officeDocument/2006/relationships/slide" Target="slides/slide5.xml"/><Relationship Id="rId32" Type="http://schemas.openxmlformats.org/officeDocument/2006/relationships/font" Target="fonts/Montserrat-bold.fntdata"/><Relationship Id="rId13" Type="http://schemas.openxmlformats.org/officeDocument/2006/relationships/slide" Target="slides/slide8.xml"/><Relationship Id="rId35" Type="http://schemas.openxmlformats.org/officeDocument/2006/relationships/font" Target="fonts/RobotoMono-bold.fntdata"/><Relationship Id="rId12" Type="http://schemas.openxmlformats.org/officeDocument/2006/relationships/slide" Target="slides/slide7.xml"/><Relationship Id="rId34" Type="http://schemas.openxmlformats.org/officeDocument/2006/relationships/font" Target="fonts/Montserrat-boldItalic.fntdata"/><Relationship Id="rId15" Type="http://schemas.openxmlformats.org/officeDocument/2006/relationships/slide" Target="slides/slide10.xml"/><Relationship Id="rId37" Type="http://customschemas.google.com/relationships/presentationmetadata" Target="metadata"/><Relationship Id="rId14" Type="http://schemas.openxmlformats.org/officeDocument/2006/relationships/slide" Target="slides/slide9.xml"/><Relationship Id="rId36" Type="http://schemas.openxmlformats.org/officeDocument/2006/relationships/font" Target="fonts/RobotoMono-boldItalic.fntdata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edca487b0d_2_3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3edca487b0d_2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edca487b0d_2_5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g3edca487b0d_2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eddbf6aca1_0_2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" name="Google Shape;182;g3eddbf6aca1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ebfb4a75d6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g3ebfb4a75d6_0_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3ebfb4a75d6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g3ebfb4a75d6_0_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3f19a204d59_2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4" name="Google Shape;214;g3f19a204d59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3eddbf6aca1_9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g3eddbf6aca1_9_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g3f19a204d59_1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g3f19a204d59_1_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g3edca487b0d_1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g3edca487b0d_1_1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" name="Google Shape;302;p1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" name="Google Shape;319;p1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2" name="Google Shape;342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8" name="Google Shape;348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6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6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7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8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8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9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19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0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0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20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20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20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lo el título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3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3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3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2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4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4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4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2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5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6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6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slow">
    <p:wipe dir="l"/>
  </p:transition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8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8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jpg"/><Relationship Id="rId4" Type="http://schemas.openxmlformats.org/officeDocument/2006/relationships/image" Target="../media/image3.png"/><Relationship Id="rId5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8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8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.png"/><Relationship Id="rId4" Type="http://schemas.openxmlformats.org/officeDocument/2006/relationships/image" Target="../media/image8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8.jpg"/><Relationship Id="rId4" Type="http://schemas.openxmlformats.org/officeDocument/2006/relationships/image" Target="../media/image10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8.jpg"/><Relationship Id="rId4" Type="http://schemas.openxmlformats.org/officeDocument/2006/relationships/image" Target="../media/image1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8.jpg"/><Relationship Id="rId4" Type="http://schemas.openxmlformats.org/officeDocument/2006/relationships/image" Target="../media/image18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6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8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9.png"/><Relationship Id="rId4" Type="http://schemas.openxmlformats.org/officeDocument/2006/relationships/image" Target="../media/image8.jp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9.png"/><Relationship Id="rId4" Type="http://schemas.openxmlformats.org/officeDocument/2006/relationships/image" Target="../media/image8.jpg"/><Relationship Id="rId5" Type="http://schemas.openxmlformats.org/officeDocument/2006/relationships/image" Target="../media/image33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8.jpg"/><Relationship Id="rId4" Type="http://schemas.openxmlformats.org/officeDocument/2006/relationships/image" Target="../media/image26.png"/><Relationship Id="rId5" Type="http://schemas.openxmlformats.org/officeDocument/2006/relationships/image" Target="../media/image25.png"/><Relationship Id="rId6" Type="http://schemas.openxmlformats.org/officeDocument/2006/relationships/image" Target="../media/image22.png"/><Relationship Id="rId7" Type="http://schemas.openxmlformats.org/officeDocument/2006/relationships/image" Target="../media/image15.png"/><Relationship Id="rId8" Type="http://schemas.openxmlformats.org/officeDocument/2006/relationships/image" Target="../media/image17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8.jpg"/><Relationship Id="rId4" Type="http://schemas.openxmlformats.org/officeDocument/2006/relationships/image" Target="../media/image19.png"/><Relationship Id="rId11" Type="http://schemas.openxmlformats.org/officeDocument/2006/relationships/image" Target="../media/image31.png"/><Relationship Id="rId10" Type="http://schemas.openxmlformats.org/officeDocument/2006/relationships/image" Target="../media/image30.png"/><Relationship Id="rId9" Type="http://schemas.openxmlformats.org/officeDocument/2006/relationships/image" Target="../media/image24.png"/><Relationship Id="rId5" Type="http://schemas.openxmlformats.org/officeDocument/2006/relationships/image" Target="../media/image29.png"/><Relationship Id="rId6" Type="http://schemas.openxmlformats.org/officeDocument/2006/relationships/image" Target="../media/image27.png"/><Relationship Id="rId7" Type="http://schemas.openxmlformats.org/officeDocument/2006/relationships/image" Target="../media/image21.png"/><Relationship Id="rId8" Type="http://schemas.openxmlformats.org/officeDocument/2006/relationships/image" Target="../media/image14.jp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0.png"/><Relationship Id="rId4" Type="http://schemas.openxmlformats.org/officeDocument/2006/relationships/image" Target="../media/image8.jp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0.png"/><Relationship Id="rId4" Type="http://schemas.openxmlformats.org/officeDocument/2006/relationships/image" Target="../media/image8.jp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8.jp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8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84" name="Google Shape;84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"/>
          <p:cNvSpPr txBox="1"/>
          <p:nvPr/>
        </p:nvSpPr>
        <p:spPr>
          <a:xfrm>
            <a:off x="1" y="2707792"/>
            <a:ext cx="12192000" cy="1139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PROYECTO “</a:t>
            </a:r>
            <a:r>
              <a:rPr lang="es-CL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PlanificApp</a:t>
            </a:r>
            <a:r>
              <a:rPr b="0" i="0" lang="es-CL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”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PRESENTACIÓN FINAL CAPSTONE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slow">
    <p:wipe dir="l"/>
  </p:transition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90" name="Google Shape;90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2"/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1800" u="none" cap="none" strike="noStrike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</a:t>
            </a: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PlanificApp</a:t>
            </a:r>
            <a:r>
              <a:rPr b="0" i="0" lang="es-CL" sz="1800" u="none" cap="none" strike="noStrike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”</a:t>
            </a:r>
            <a:endParaRPr/>
          </a:p>
        </p:txBody>
      </p:sp>
      <p:sp>
        <p:nvSpPr>
          <p:cNvPr id="92" name="Google Shape;92;p2"/>
          <p:cNvSpPr txBox="1"/>
          <p:nvPr/>
        </p:nvSpPr>
        <p:spPr>
          <a:xfrm>
            <a:off x="238327" y="3058616"/>
            <a:ext cx="3608961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INTEGRANTES DEL PROYECTO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3" name="Google Shape;93;p2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94" name="Google Shape;94;p2"/>
          <p:cNvSpPr/>
          <p:nvPr/>
        </p:nvSpPr>
        <p:spPr>
          <a:xfrm>
            <a:off x="5681150" y="878300"/>
            <a:ext cx="4085700" cy="2040300"/>
          </a:xfrm>
          <a:prstGeom prst="roundRect">
            <a:avLst>
              <a:gd fmla="val 10000" name="adj"/>
            </a:avLst>
          </a:prstGeom>
          <a:gradFill>
            <a:gsLst>
              <a:gs pos="0">
                <a:srgbClr val="6EA5DA"/>
              </a:gs>
              <a:gs pos="50000">
                <a:srgbClr val="529BDA"/>
              </a:gs>
              <a:gs pos="100000">
                <a:srgbClr val="4188C8"/>
              </a:gs>
            </a:gsLst>
            <a:lin ang="5400012" scaled="0"/>
          </a:gradFill>
          <a:ln>
            <a:noFill/>
          </a:ln>
          <a:effectLst>
            <a:outerShdw blurRad="57150" rotWithShape="0" algn="ctr" dir="5400000" dist="19050">
              <a:srgbClr val="000000">
                <a:alpha val="631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2"/>
          <p:cNvSpPr txBox="1"/>
          <p:nvPr/>
        </p:nvSpPr>
        <p:spPr>
          <a:xfrm>
            <a:off x="5743875" y="912350"/>
            <a:ext cx="3718200" cy="197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9050" lIns="99050" spcFirstLastPara="1" rIns="99050" wrap="square" tIns="9905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Calibri"/>
              <a:buNone/>
            </a:pPr>
            <a:r>
              <a:rPr lang="es-CL" sz="2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Claudio Córdova</a:t>
            </a:r>
            <a:endParaRPr b="0" i="0" sz="26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1" marL="228600" marR="0" rtl="0" algn="l">
              <a:lnSpc>
                <a:spcPct val="90000"/>
              </a:lnSpc>
              <a:spcBef>
                <a:spcPts val="91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alibri"/>
              <a:buChar char="•"/>
            </a:pPr>
            <a:r>
              <a:rPr lang="es-CL"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Scrum Master</a:t>
            </a:r>
            <a:endParaRPr b="0" i="0" sz="20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1" marL="2286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alibri"/>
              <a:buChar char="•"/>
            </a:pPr>
            <a:r>
              <a:rPr lang="es-CL"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Creación y revisión de código</a:t>
            </a:r>
            <a:endParaRPr sz="2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1" marL="2286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alibri"/>
              <a:buChar char="•"/>
            </a:pPr>
            <a:r>
              <a:rPr lang="es-CL"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Documentación</a:t>
            </a:r>
            <a:endParaRPr sz="2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1" marL="2286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alibri"/>
              <a:buChar char="•"/>
            </a:pPr>
            <a:r>
              <a:rPr lang="es-CL"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Testing</a:t>
            </a:r>
            <a:endParaRPr sz="2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2"/>
          <p:cNvSpPr/>
          <p:nvPr/>
        </p:nvSpPr>
        <p:spPr>
          <a:xfrm>
            <a:off x="5681150" y="4009327"/>
            <a:ext cx="4085700" cy="2441400"/>
          </a:xfrm>
          <a:prstGeom prst="roundRect">
            <a:avLst>
              <a:gd fmla="val 10000" name="adj"/>
            </a:avLst>
          </a:prstGeom>
          <a:gradFill>
            <a:gsLst>
              <a:gs pos="0">
                <a:srgbClr val="6EA5DA"/>
              </a:gs>
              <a:gs pos="50000">
                <a:srgbClr val="529BDA"/>
              </a:gs>
              <a:gs pos="100000">
                <a:srgbClr val="4188C8"/>
              </a:gs>
            </a:gsLst>
            <a:lin ang="5400012" scaled="0"/>
          </a:gradFill>
          <a:ln>
            <a:noFill/>
          </a:ln>
          <a:effectLst>
            <a:outerShdw blurRad="57150" rotWithShape="0" algn="ctr" dir="5400000" dist="19050">
              <a:srgbClr val="000000">
                <a:alpha val="631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2"/>
          <p:cNvSpPr txBox="1"/>
          <p:nvPr/>
        </p:nvSpPr>
        <p:spPr>
          <a:xfrm>
            <a:off x="5743875" y="4143423"/>
            <a:ext cx="3718200" cy="217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9050" lIns="99050" spcFirstLastPara="1" rIns="99050" wrap="square" tIns="9905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Calibri"/>
              <a:buNone/>
            </a:pPr>
            <a:r>
              <a:rPr lang="es-CL" sz="2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Ian Cortés</a:t>
            </a:r>
            <a:endParaRPr b="0" i="0" sz="26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1" marL="228600" marR="0" rtl="0" algn="l">
              <a:lnSpc>
                <a:spcPct val="90000"/>
              </a:lnSpc>
              <a:spcBef>
                <a:spcPts val="91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alibri"/>
              <a:buChar char="•"/>
            </a:pPr>
            <a:r>
              <a:rPr lang="es-CL"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Scrum Team</a:t>
            </a:r>
            <a:endParaRPr b="0" i="0" sz="20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1" marL="2286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alibri"/>
              <a:buChar char="•"/>
            </a:pPr>
            <a:r>
              <a:rPr lang="es-CL"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r>
              <a:rPr lang="es-CL"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reación</a:t>
            </a:r>
            <a:r>
              <a:rPr lang="es-CL"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y revisión de código</a:t>
            </a:r>
            <a:endParaRPr sz="2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1" marL="2286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alibri"/>
              <a:buChar char="•"/>
            </a:pPr>
            <a:r>
              <a:rPr lang="es-CL"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Documentación</a:t>
            </a:r>
            <a:endParaRPr sz="2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1" marL="2286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alibri"/>
              <a:buChar char="•"/>
            </a:pPr>
            <a:r>
              <a:rPr lang="es-CL"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Testing</a:t>
            </a:r>
            <a:endParaRPr sz="2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slow">
    <p:wipe dir="l"/>
  </p:transition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02" name="Google Shape;102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3"/>
          <p:cNvSpPr txBox="1"/>
          <p:nvPr/>
        </p:nvSpPr>
        <p:spPr>
          <a:xfrm>
            <a:off x="381000" y="285750"/>
            <a:ext cx="12192000" cy="215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1400">
                <a:solidFill>
                  <a:srgbClr val="718096"/>
                </a:solidFill>
                <a:latin typeface="Lato"/>
                <a:ea typeface="Lato"/>
                <a:cs typeface="Lato"/>
                <a:sym typeface="Lato"/>
              </a:rPr>
              <a:t>PROYECTO “PlanificApp”</a:t>
            </a:r>
            <a:endParaRPr b="1" sz="1400">
              <a:solidFill>
                <a:srgbClr val="718096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04" name="Google Shape;104;p3"/>
          <p:cNvSpPr txBox="1"/>
          <p:nvPr/>
        </p:nvSpPr>
        <p:spPr>
          <a:xfrm>
            <a:off x="0" y="952500"/>
            <a:ext cx="12192000" cy="6156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4000">
                <a:solidFill>
                  <a:srgbClr val="1A202C"/>
                </a:solidFill>
                <a:latin typeface="Lato"/>
                <a:ea typeface="Lato"/>
                <a:cs typeface="Lato"/>
                <a:sym typeface="Lato"/>
              </a:rPr>
              <a:t>Descripción del Proyecto</a:t>
            </a:r>
            <a:endParaRPr b="1" sz="4000">
              <a:solidFill>
                <a:srgbClr val="1A202C"/>
              </a:solidFill>
              <a:latin typeface="Lato"/>
              <a:ea typeface="Lato"/>
              <a:cs typeface="Lato"/>
              <a:sym typeface="Lato"/>
            </a:endParaRPr>
          </a:p>
        </p:txBody>
      </p:sp>
      <p:grpSp>
        <p:nvGrpSpPr>
          <p:cNvPr id="105" name="Google Shape;105;p3"/>
          <p:cNvGrpSpPr/>
          <p:nvPr/>
        </p:nvGrpSpPr>
        <p:grpSpPr>
          <a:xfrm>
            <a:off x="571500" y="2095500"/>
            <a:ext cx="11049000" cy="4000500"/>
            <a:chOff x="571500" y="2095500"/>
            <a:chExt cx="11049000" cy="4000500"/>
          </a:xfrm>
        </p:grpSpPr>
        <p:sp>
          <p:nvSpPr>
            <p:cNvPr id="106" name="Google Shape;106;p3"/>
            <p:cNvSpPr/>
            <p:nvPr/>
          </p:nvSpPr>
          <p:spPr>
            <a:xfrm>
              <a:off x="571500" y="2095500"/>
              <a:ext cx="5143500" cy="4000500"/>
            </a:xfrm>
            <a:prstGeom prst="roundRect">
              <a:avLst>
                <a:gd fmla="val 4761" name="adj"/>
              </a:avLst>
            </a:prstGeom>
            <a:solidFill>
              <a:srgbClr val="FFF5F5"/>
            </a:solidFill>
            <a:ln cap="flat" cmpd="sng" w="19050">
              <a:solidFill>
                <a:srgbClr val="FEB2B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" name="Google Shape;107;p3"/>
            <p:cNvSpPr txBox="1"/>
            <p:nvPr/>
          </p:nvSpPr>
          <p:spPr>
            <a:xfrm>
              <a:off x="857250" y="2381250"/>
              <a:ext cx="4572000" cy="571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CL" sz="3200">
                  <a:solidFill>
                    <a:srgbClr val="C53030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warning</a:t>
              </a:r>
              <a:r>
                <a:rPr lang="es-CL">
                  <a:latin typeface="Lato"/>
                  <a:ea typeface="Lato"/>
                  <a:cs typeface="Lato"/>
                  <a:sym typeface="Lato"/>
                </a:rPr>
                <a:t>    </a:t>
              </a:r>
              <a:r>
                <a:rPr b="1" lang="es-CL" sz="2400">
                  <a:solidFill>
                    <a:srgbClr val="C53030"/>
                  </a:solidFill>
                  <a:latin typeface="Lato"/>
                  <a:ea typeface="Lato"/>
                  <a:cs typeface="Lato"/>
                  <a:sym typeface="Lato"/>
                </a:rPr>
                <a:t>Problema o Dolor</a:t>
              </a: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108" name="Google Shape;108;p3"/>
            <p:cNvSpPr txBox="1"/>
            <p:nvPr/>
          </p:nvSpPr>
          <p:spPr>
            <a:xfrm>
              <a:off x="857250" y="3143250"/>
              <a:ext cx="4572000" cy="2667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CL" sz="2000">
                  <a:solidFill>
                    <a:srgbClr val="4A5568"/>
                  </a:solidFill>
                  <a:latin typeface="Montserrat"/>
                  <a:ea typeface="Montserrat"/>
                  <a:cs typeface="Montserrat"/>
                  <a:sym typeface="Montserrat"/>
                </a:rPr>
                <a:t>La falta de organización en la vida diaria entrega problemas y poca claridad, dificultando el buen desempeño que podemos llegar a tener.</a:t>
              </a:r>
              <a:endParaRPr sz="2000">
                <a:solidFill>
                  <a:srgbClr val="4A5568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pic>
          <p:nvPicPr>
            <p:cNvPr id="109" name="Google Shape;109;p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5886450" y="4076700"/>
              <a:ext cx="419100" cy="381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0" name="Google Shape;110;p3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6191250" y="4000500"/>
              <a:ext cx="190500" cy="1905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1" name="Google Shape;111;p3"/>
            <p:cNvSpPr/>
            <p:nvPr/>
          </p:nvSpPr>
          <p:spPr>
            <a:xfrm>
              <a:off x="6477000" y="2095500"/>
              <a:ext cx="5143500" cy="4000500"/>
            </a:xfrm>
            <a:prstGeom prst="roundRect">
              <a:avLst>
                <a:gd fmla="val 4761" name="adj"/>
              </a:avLst>
            </a:prstGeom>
            <a:solidFill>
              <a:srgbClr val="F0FFF4"/>
            </a:solidFill>
            <a:ln cap="flat" cmpd="sng" w="19050">
              <a:solidFill>
                <a:srgbClr val="6EA5D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p3"/>
            <p:cNvSpPr txBox="1"/>
            <p:nvPr/>
          </p:nvSpPr>
          <p:spPr>
            <a:xfrm>
              <a:off x="6762750" y="2381250"/>
              <a:ext cx="4572000" cy="571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CL" sz="3200">
                  <a:solidFill>
                    <a:srgbClr val="2F855A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lightbulb</a:t>
              </a:r>
              <a:r>
                <a:rPr lang="es-CL">
                  <a:latin typeface="Lato"/>
                  <a:ea typeface="Lato"/>
                  <a:cs typeface="Lato"/>
                  <a:sym typeface="Lato"/>
                </a:rPr>
                <a:t> </a:t>
              </a:r>
              <a:r>
                <a:rPr b="1" lang="es-CL" sz="2400">
                  <a:solidFill>
                    <a:srgbClr val="2F855A"/>
                  </a:solidFill>
                  <a:latin typeface="Lato"/>
                  <a:ea typeface="Lato"/>
                  <a:cs typeface="Lato"/>
                  <a:sym typeface="Lato"/>
                </a:rPr>
                <a:t>Propuesta de Solución</a:t>
              </a: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113" name="Google Shape;113;p3"/>
            <p:cNvSpPr txBox="1"/>
            <p:nvPr/>
          </p:nvSpPr>
          <p:spPr>
            <a:xfrm>
              <a:off x="6762750" y="3143250"/>
              <a:ext cx="4572000" cy="2667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CL" sz="2000">
                  <a:solidFill>
                    <a:srgbClr val="2D3748"/>
                  </a:solidFill>
                  <a:latin typeface="Montserrat"/>
                  <a:ea typeface="Montserrat"/>
                  <a:cs typeface="Montserrat"/>
                  <a:sym typeface="Montserrat"/>
                </a:rPr>
                <a:t>Desarrollamos una aplicación que contempla un </a:t>
              </a:r>
              <a:r>
                <a:rPr b="1" lang="es-CL" sz="2000">
                  <a:solidFill>
                    <a:srgbClr val="2F855A"/>
                  </a:solidFill>
                  <a:latin typeface="Montserrat"/>
                  <a:ea typeface="Montserrat"/>
                  <a:cs typeface="Montserrat"/>
                  <a:sym typeface="Montserrat"/>
                </a:rPr>
                <a:t>planificador automático</a:t>
              </a:r>
              <a:r>
                <a:rPr lang="es-CL" sz="2000">
                  <a:solidFill>
                    <a:srgbClr val="2D3748"/>
                  </a:solidFill>
                  <a:latin typeface="Montserrat"/>
                  <a:ea typeface="Montserrat"/>
                  <a:cs typeface="Montserrat"/>
                  <a:sym typeface="Montserrat"/>
                </a:rPr>
                <a:t>, el cual ayudará al usuario armando un horario que cumpla con sus necesidades, ajustándose en 3 enfoques distintos.</a:t>
              </a:r>
              <a:endParaRPr sz="2000">
                <a:solidFill>
                  <a:srgbClr val="2D3748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</p:spTree>
  </p:cSld>
  <p:clrMapOvr>
    <a:masterClrMapping/>
  </p:clrMapOvr>
  <p:transition spd="slow">
    <p:wipe dir="l"/>
  </p:transition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4"/>
          <p:cNvSpPr/>
          <p:nvPr/>
        </p:nvSpPr>
        <p:spPr>
          <a:xfrm>
            <a:off x="0" y="0"/>
            <a:ext cx="12192000" cy="1143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9" name="Google Shape;119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953500" y="190500"/>
            <a:ext cx="2857500" cy="7143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4"/>
          <p:cNvSpPr txBox="1"/>
          <p:nvPr/>
        </p:nvSpPr>
        <p:spPr>
          <a:xfrm>
            <a:off x="381000" y="285750"/>
            <a:ext cx="3810000" cy="215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1400">
                <a:solidFill>
                  <a:srgbClr val="757070"/>
                </a:solidFill>
                <a:latin typeface="Lato"/>
                <a:ea typeface="Lato"/>
                <a:cs typeface="Lato"/>
                <a:sym typeface="Lato"/>
              </a:rPr>
              <a:t>PROYECTO “PlanificApp”</a:t>
            </a:r>
            <a:endParaRPr b="1" sz="1400">
              <a:solidFill>
                <a:srgbClr val="75707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21" name="Google Shape;121;p4"/>
          <p:cNvSpPr txBox="1"/>
          <p:nvPr/>
        </p:nvSpPr>
        <p:spPr>
          <a:xfrm>
            <a:off x="381000" y="1238250"/>
            <a:ext cx="11430000" cy="4926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3200">
                <a:solidFill>
                  <a:srgbClr val="1A202C"/>
                </a:solidFill>
                <a:latin typeface="Lato"/>
                <a:ea typeface="Lato"/>
                <a:cs typeface="Lato"/>
                <a:sym typeface="Lato"/>
              </a:rPr>
              <a:t>Objetivos del Proyecto</a:t>
            </a:r>
            <a:endParaRPr b="1" sz="3200">
              <a:solidFill>
                <a:srgbClr val="1A202C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22" name="Google Shape;122;p4"/>
          <p:cNvSpPr/>
          <p:nvPr/>
        </p:nvSpPr>
        <p:spPr>
          <a:xfrm>
            <a:off x="381000" y="2000250"/>
            <a:ext cx="11430000" cy="1524000"/>
          </a:xfrm>
          <a:prstGeom prst="roundRect">
            <a:avLst>
              <a:gd fmla="val 9375" name="adj"/>
            </a:avLst>
          </a:prstGeom>
          <a:solidFill>
            <a:srgbClr val="EEF2FF"/>
          </a:solidFill>
          <a:ln cap="flat" cmpd="sng" w="9525">
            <a:solidFill>
              <a:srgbClr val="4472C4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190500" lIns="190500" spcFirstLastPara="1" rIns="190500" wrap="square" tIns="190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1800">
                <a:solidFill>
                  <a:srgbClr val="4472C4"/>
                </a:solidFill>
                <a:latin typeface="Lato"/>
                <a:ea typeface="Lato"/>
                <a:cs typeface="Lato"/>
                <a:sym typeface="Lato"/>
              </a:rPr>
              <a:t>Objetivo General</a:t>
            </a:r>
            <a:endParaRPr b="1" sz="1800">
              <a:solidFill>
                <a:srgbClr val="4472C4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750"/>
              </a:spcBef>
              <a:spcAft>
                <a:spcPts val="0"/>
              </a:spcAft>
              <a:buNone/>
            </a:pPr>
            <a:r>
              <a:rPr b="0" lang="es-CL" sz="2000">
                <a:solidFill>
                  <a:srgbClr val="2D3748"/>
                </a:solidFill>
                <a:latin typeface="Lato"/>
                <a:ea typeface="Lato"/>
                <a:cs typeface="Lato"/>
                <a:sym typeface="Lato"/>
              </a:rPr>
              <a:t>Desarrollar una aplicación de escritorio de planificación semanal inteligente que permita a los usuarios generar automáticamente un cronograma semanal personalizado</a:t>
            </a:r>
            <a:r>
              <a:rPr lang="es-CL" sz="2000">
                <a:solidFill>
                  <a:srgbClr val="2D3748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b="0" lang="es-CL" sz="2000">
                <a:solidFill>
                  <a:srgbClr val="2D3748"/>
                </a:solidFill>
                <a:latin typeface="Lato"/>
                <a:ea typeface="Lato"/>
                <a:cs typeface="Lato"/>
                <a:sym typeface="Lato"/>
              </a:rPr>
              <a:t>y coherente, según el e</a:t>
            </a:r>
            <a:r>
              <a:rPr lang="es-CL" sz="2000">
                <a:solidFill>
                  <a:srgbClr val="2D3748"/>
                </a:solidFill>
                <a:latin typeface="Lato"/>
                <a:ea typeface="Lato"/>
                <a:cs typeface="Lato"/>
                <a:sym typeface="Lato"/>
              </a:rPr>
              <a:t>nfoque al que decidan optar</a:t>
            </a:r>
            <a:r>
              <a:rPr b="0" lang="es-CL" sz="2000">
                <a:solidFill>
                  <a:srgbClr val="2D3748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 b="0" sz="2000">
              <a:solidFill>
                <a:srgbClr val="2D3748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23" name="Google Shape;123;p4"/>
          <p:cNvSpPr/>
          <p:nvPr/>
        </p:nvSpPr>
        <p:spPr>
          <a:xfrm>
            <a:off x="381000" y="3714750"/>
            <a:ext cx="11430000" cy="2857500"/>
          </a:xfrm>
          <a:prstGeom prst="roundRect">
            <a:avLst>
              <a:gd fmla="val 5000" name="adj"/>
            </a:avLst>
          </a:prstGeom>
          <a:solidFill>
            <a:srgbClr val="FFFFFF"/>
          </a:solidFill>
          <a:ln cap="flat" cmpd="sng" w="9525">
            <a:solidFill>
              <a:srgbClr val="D1D9E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190500" lIns="190500" spcFirstLastPara="1" rIns="190500" wrap="square" tIns="190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1800">
                <a:solidFill>
                  <a:srgbClr val="718096"/>
                </a:solidFill>
                <a:latin typeface="Lato"/>
                <a:ea typeface="Lato"/>
                <a:cs typeface="Lato"/>
                <a:sym typeface="Lato"/>
              </a:rPr>
              <a:t>Objetivos Específicos</a:t>
            </a:r>
            <a:endParaRPr b="1" sz="1800">
              <a:solidFill>
                <a:srgbClr val="718096"/>
              </a:solidFill>
              <a:latin typeface="Lato"/>
              <a:ea typeface="Lato"/>
              <a:cs typeface="Lato"/>
              <a:sym typeface="Lato"/>
            </a:endParaRPr>
          </a:p>
          <a:p>
            <a:pPr indent="-317500" lvl="0" marL="457200" rtl="0" algn="l">
              <a:spcBef>
                <a:spcPts val="1500"/>
              </a:spcBef>
              <a:spcAft>
                <a:spcPts val="0"/>
              </a:spcAft>
              <a:buClr>
                <a:srgbClr val="2D3748"/>
              </a:buClr>
              <a:buSzPts val="1400"/>
              <a:buFont typeface="Lato"/>
              <a:buChar char="●"/>
            </a:pPr>
            <a:r>
              <a:rPr b="0" lang="es-CL" sz="1400">
                <a:solidFill>
                  <a:srgbClr val="2D3748"/>
                </a:solidFill>
                <a:latin typeface="Lato"/>
                <a:ea typeface="Lato"/>
                <a:cs typeface="Lato"/>
                <a:sym typeface="Lato"/>
              </a:rPr>
              <a:t>Reducir </a:t>
            </a:r>
            <a:r>
              <a:rPr b="0" lang="es-CL" sz="1400">
                <a:solidFill>
                  <a:srgbClr val="2D3748"/>
                </a:solidFill>
                <a:latin typeface="Lato"/>
                <a:ea typeface="Lato"/>
                <a:cs typeface="Lato"/>
                <a:sym typeface="Lato"/>
              </a:rPr>
              <a:t>en </a:t>
            </a:r>
            <a:r>
              <a:rPr b="0" lang="es-CL" sz="1400">
                <a:solidFill>
                  <a:srgbClr val="2D3748"/>
                </a:solidFill>
                <a:latin typeface="Lato"/>
                <a:ea typeface="Lato"/>
                <a:cs typeface="Lato"/>
                <a:sym typeface="Lato"/>
              </a:rPr>
              <a:t>un </a:t>
            </a:r>
            <a:r>
              <a:rPr b="1" lang="es-CL" sz="1400">
                <a:solidFill>
                  <a:srgbClr val="2D3748"/>
                </a:solidFill>
                <a:latin typeface="Lato"/>
                <a:ea typeface="Lato"/>
                <a:cs typeface="Lato"/>
                <a:sym typeface="Lato"/>
              </a:rPr>
              <a:t>50% el tiempo</a:t>
            </a:r>
            <a:r>
              <a:rPr b="0" lang="es-CL" sz="1400">
                <a:solidFill>
                  <a:srgbClr val="2D3748"/>
                </a:solidFill>
                <a:latin typeface="Lato"/>
                <a:ea typeface="Lato"/>
                <a:cs typeface="Lato"/>
                <a:sym typeface="Lato"/>
              </a:rPr>
              <a:t> que </a:t>
            </a:r>
            <a:r>
              <a:rPr lang="es-CL">
                <a:solidFill>
                  <a:srgbClr val="2D3748"/>
                </a:solidFill>
                <a:latin typeface="Lato"/>
                <a:ea typeface="Lato"/>
                <a:cs typeface="Lato"/>
                <a:sym typeface="Lato"/>
              </a:rPr>
              <a:t>los usuarios invierten en su</a:t>
            </a:r>
            <a:r>
              <a:rPr b="0" lang="es-CL" sz="1400">
                <a:solidFill>
                  <a:srgbClr val="2D3748"/>
                </a:solidFill>
                <a:latin typeface="Lato"/>
                <a:ea typeface="Lato"/>
                <a:cs typeface="Lato"/>
                <a:sym typeface="Lato"/>
              </a:rPr>
              <a:t> planificación semanal,</a:t>
            </a:r>
            <a:r>
              <a:rPr lang="es-CL">
                <a:solidFill>
                  <a:srgbClr val="2D3748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b="0" lang="es-CL" sz="1400">
                <a:solidFill>
                  <a:srgbClr val="2D3748"/>
                </a:solidFill>
                <a:latin typeface="Lato"/>
                <a:ea typeface="Lato"/>
                <a:cs typeface="Lato"/>
                <a:sym typeface="Lato"/>
              </a:rPr>
              <a:t>en </a:t>
            </a:r>
            <a:r>
              <a:rPr lang="es-CL">
                <a:solidFill>
                  <a:srgbClr val="2D3748"/>
                </a:solidFill>
                <a:latin typeface="Lato"/>
                <a:ea typeface="Lato"/>
                <a:cs typeface="Lato"/>
                <a:sym typeface="Lato"/>
              </a:rPr>
              <a:t>6</a:t>
            </a:r>
            <a:r>
              <a:rPr b="0" lang="es-CL" sz="1400">
                <a:solidFill>
                  <a:srgbClr val="2D3748"/>
                </a:solidFill>
                <a:latin typeface="Lato"/>
                <a:ea typeface="Lato"/>
                <a:cs typeface="Lato"/>
                <a:sym typeface="Lato"/>
              </a:rPr>
              <a:t> mes</a:t>
            </a:r>
            <a:r>
              <a:rPr lang="es-CL">
                <a:solidFill>
                  <a:srgbClr val="2D3748"/>
                </a:solidFill>
                <a:latin typeface="Lato"/>
                <a:ea typeface="Lato"/>
                <a:cs typeface="Lato"/>
                <a:sym typeface="Lato"/>
              </a:rPr>
              <a:t>es</a:t>
            </a:r>
            <a:r>
              <a:rPr b="0" lang="es-CL" sz="1400">
                <a:solidFill>
                  <a:srgbClr val="2D3748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 b="0" sz="1400">
              <a:solidFill>
                <a:srgbClr val="2D3748"/>
              </a:solidFill>
              <a:latin typeface="Lato"/>
              <a:ea typeface="Lato"/>
              <a:cs typeface="Lato"/>
              <a:sym typeface="Lato"/>
            </a:endParaRPr>
          </a:p>
          <a:p>
            <a:pPr indent="-317500" lvl="0" marL="457200" rtl="0" algn="l">
              <a:spcBef>
                <a:spcPts val="900"/>
              </a:spcBef>
              <a:spcAft>
                <a:spcPts val="0"/>
              </a:spcAft>
              <a:buClr>
                <a:srgbClr val="2D3748"/>
              </a:buClr>
              <a:buSzPts val="1400"/>
              <a:buFont typeface="Lato"/>
              <a:buChar char="●"/>
            </a:pPr>
            <a:r>
              <a:rPr lang="es-CL">
                <a:solidFill>
                  <a:srgbClr val="2D3748"/>
                </a:solidFill>
                <a:latin typeface="Lato"/>
                <a:ea typeface="Lato"/>
                <a:cs typeface="Lato"/>
                <a:sym typeface="Lato"/>
              </a:rPr>
              <a:t>Alcanzar</a:t>
            </a:r>
            <a:r>
              <a:rPr b="0" lang="es-CL" sz="1400">
                <a:solidFill>
                  <a:srgbClr val="2D3748"/>
                </a:solidFill>
                <a:latin typeface="Lato"/>
                <a:ea typeface="Lato"/>
                <a:cs typeface="Lato"/>
                <a:sym typeface="Lato"/>
              </a:rPr>
              <a:t> que un </a:t>
            </a:r>
            <a:r>
              <a:rPr b="1" lang="es-CL" sz="1400">
                <a:solidFill>
                  <a:srgbClr val="2D3748"/>
                </a:solidFill>
                <a:latin typeface="Lato"/>
                <a:ea typeface="Lato"/>
                <a:cs typeface="Lato"/>
                <a:sym typeface="Lato"/>
              </a:rPr>
              <a:t>70% de los usuarios sean de car</a:t>
            </a:r>
            <a:r>
              <a:rPr b="1" lang="es-CL">
                <a:solidFill>
                  <a:srgbClr val="2D3748"/>
                </a:solidFill>
                <a:latin typeface="Lato"/>
                <a:ea typeface="Lato"/>
                <a:cs typeface="Lato"/>
                <a:sym typeface="Lato"/>
              </a:rPr>
              <a:t>ácter “</a:t>
            </a:r>
            <a:r>
              <a:rPr b="1" lang="es-CL" sz="1400">
                <a:solidFill>
                  <a:srgbClr val="2D3748"/>
                </a:solidFill>
                <a:latin typeface="Lato"/>
                <a:ea typeface="Lato"/>
                <a:cs typeface="Lato"/>
                <a:sym typeface="Lato"/>
              </a:rPr>
              <a:t>activo</a:t>
            </a:r>
            <a:r>
              <a:rPr b="1" lang="es-CL">
                <a:solidFill>
                  <a:srgbClr val="2D3748"/>
                </a:solidFill>
                <a:latin typeface="Lato"/>
                <a:ea typeface="Lato"/>
                <a:cs typeface="Lato"/>
                <a:sym typeface="Lato"/>
              </a:rPr>
              <a:t>”</a:t>
            </a:r>
            <a:r>
              <a:rPr b="0" lang="es-CL" sz="1400">
                <a:solidFill>
                  <a:srgbClr val="2D3748"/>
                </a:solidFill>
                <a:latin typeface="Lato"/>
                <a:ea typeface="Lato"/>
                <a:cs typeface="Lato"/>
                <a:sym typeface="Lato"/>
              </a:rPr>
              <a:t> en los primeros 3 meses </a:t>
            </a:r>
            <a:r>
              <a:rPr lang="es-CL">
                <a:solidFill>
                  <a:srgbClr val="2D3748"/>
                </a:solidFill>
                <a:latin typeface="Lato"/>
                <a:ea typeface="Lato"/>
                <a:cs typeface="Lato"/>
                <a:sym typeface="Lato"/>
              </a:rPr>
              <a:t>tras el</a:t>
            </a:r>
            <a:r>
              <a:rPr b="0" lang="es-CL" sz="1400">
                <a:solidFill>
                  <a:srgbClr val="2D3748"/>
                </a:solidFill>
                <a:latin typeface="Lato"/>
                <a:ea typeface="Lato"/>
                <a:cs typeface="Lato"/>
                <a:sym typeface="Lato"/>
              </a:rPr>
              <a:t> despliegue final.</a:t>
            </a:r>
            <a:endParaRPr b="0" sz="1400">
              <a:solidFill>
                <a:srgbClr val="2D3748"/>
              </a:solidFill>
              <a:latin typeface="Lato"/>
              <a:ea typeface="Lato"/>
              <a:cs typeface="Lato"/>
              <a:sym typeface="Lato"/>
            </a:endParaRPr>
          </a:p>
          <a:p>
            <a:pPr indent="-317500" lvl="0" marL="457200" rtl="0" algn="l">
              <a:spcBef>
                <a:spcPts val="900"/>
              </a:spcBef>
              <a:spcAft>
                <a:spcPts val="0"/>
              </a:spcAft>
              <a:buClr>
                <a:srgbClr val="2D3748"/>
              </a:buClr>
              <a:buSzPts val="1400"/>
              <a:buFont typeface="Lato"/>
              <a:buChar char="●"/>
            </a:pPr>
            <a:r>
              <a:rPr b="0" lang="es-CL" sz="1400">
                <a:solidFill>
                  <a:srgbClr val="2D3748"/>
                </a:solidFill>
                <a:latin typeface="Lato"/>
                <a:ea typeface="Lato"/>
                <a:cs typeface="Lato"/>
                <a:sym typeface="Lato"/>
              </a:rPr>
              <a:t>Convertir al </a:t>
            </a:r>
            <a:r>
              <a:rPr b="1" lang="es-CL" sz="1400">
                <a:solidFill>
                  <a:srgbClr val="2D3748"/>
                </a:solidFill>
                <a:latin typeface="Lato"/>
                <a:ea typeface="Lato"/>
                <a:cs typeface="Lato"/>
                <a:sym typeface="Lato"/>
              </a:rPr>
              <a:t>40% de los usuarios gratuitos</a:t>
            </a:r>
            <a:r>
              <a:rPr b="1" lang="es-CL" sz="1400">
                <a:solidFill>
                  <a:srgbClr val="2D3748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b="1" lang="es-CL">
                <a:solidFill>
                  <a:srgbClr val="2D3748"/>
                </a:solidFill>
                <a:latin typeface="Lato"/>
                <a:ea typeface="Lato"/>
                <a:cs typeface="Lato"/>
                <a:sym typeface="Lato"/>
              </a:rPr>
              <a:t>en usuarios </a:t>
            </a:r>
            <a:r>
              <a:rPr b="1" lang="es-CL" sz="1400">
                <a:solidFill>
                  <a:srgbClr val="2D3748"/>
                </a:solidFill>
                <a:latin typeface="Lato"/>
                <a:ea typeface="Lato"/>
                <a:cs typeface="Lato"/>
                <a:sym typeface="Lato"/>
              </a:rPr>
              <a:t>de pago</a:t>
            </a:r>
            <a:r>
              <a:rPr b="1" lang="es-CL">
                <a:solidFill>
                  <a:srgbClr val="2D3748"/>
                </a:solidFill>
                <a:latin typeface="Lato"/>
                <a:ea typeface="Lato"/>
                <a:cs typeface="Lato"/>
                <a:sym typeface="Lato"/>
              </a:rPr>
              <a:t>, </a:t>
            </a:r>
            <a:r>
              <a:rPr b="0" lang="es-CL" sz="1400">
                <a:solidFill>
                  <a:srgbClr val="2D3748"/>
                </a:solidFill>
                <a:latin typeface="Lato"/>
                <a:ea typeface="Lato"/>
                <a:cs typeface="Lato"/>
                <a:sym typeface="Lato"/>
              </a:rPr>
              <a:t>en 4 meses.</a:t>
            </a:r>
            <a:endParaRPr b="0" sz="1400">
              <a:solidFill>
                <a:srgbClr val="2D3748"/>
              </a:solidFill>
              <a:latin typeface="Lato"/>
              <a:ea typeface="Lato"/>
              <a:cs typeface="Lato"/>
              <a:sym typeface="Lato"/>
            </a:endParaRPr>
          </a:p>
          <a:p>
            <a:pPr indent="-317500" lvl="0" marL="457200" rtl="0" algn="l">
              <a:spcBef>
                <a:spcPts val="900"/>
              </a:spcBef>
              <a:spcAft>
                <a:spcPts val="0"/>
              </a:spcAft>
              <a:buClr>
                <a:srgbClr val="2D3748"/>
              </a:buClr>
              <a:buSzPts val="1400"/>
              <a:buFont typeface="Lato"/>
              <a:buChar char="●"/>
            </a:pPr>
            <a:r>
              <a:rPr b="0" lang="es-CL" sz="1400">
                <a:solidFill>
                  <a:srgbClr val="2D3748"/>
                </a:solidFill>
                <a:latin typeface="Lato"/>
                <a:ea typeface="Lato"/>
                <a:cs typeface="Lato"/>
                <a:sym typeface="Lato"/>
              </a:rPr>
              <a:t>Atraer un </a:t>
            </a:r>
            <a:r>
              <a:rPr b="1" lang="es-CL" sz="1400">
                <a:solidFill>
                  <a:srgbClr val="2D3748"/>
                </a:solidFill>
                <a:latin typeface="Lato"/>
                <a:ea typeface="Lato"/>
                <a:cs typeface="Lato"/>
                <a:sym typeface="Lato"/>
              </a:rPr>
              <a:t>15% de usuarios directos</a:t>
            </a:r>
            <a:r>
              <a:rPr b="0" lang="es-CL" sz="1400">
                <a:solidFill>
                  <a:srgbClr val="2D3748"/>
                </a:solidFill>
                <a:latin typeface="Lato"/>
                <a:ea typeface="Lato"/>
                <a:cs typeface="Lato"/>
                <a:sym typeface="Lato"/>
              </a:rPr>
              <a:t> a la versión de pago, si</a:t>
            </a:r>
            <a:r>
              <a:rPr lang="es-CL">
                <a:solidFill>
                  <a:srgbClr val="2D3748"/>
                </a:solidFill>
                <a:latin typeface="Lato"/>
                <a:ea typeface="Lato"/>
                <a:cs typeface="Lato"/>
                <a:sym typeface="Lato"/>
              </a:rPr>
              <a:t>n pasar por la versión gratuita,</a:t>
            </a:r>
            <a:r>
              <a:rPr b="0" lang="es-CL" sz="1400">
                <a:solidFill>
                  <a:srgbClr val="2D3748"/>
                </a:solidFill>
                <a:latin typeface="Lato"/>
                <a:ea typeface="Lato"/>
                <a:cs typeface="Lato"/>
                <a:sym typeface="Lato"/>
              </a:rPr>
              <a:t> en </a:t>
            </a:r>
            <a:r>
              <a:rPr lang="es-CL">
                <a:solidFill>
                  <a:srgbClr val="2D3748"/>
                </a:solidFill>
                <a:latin typeface="Lato"/>
                <a:ea typeface="Lato"/>
                <a:cs typeface="Lato"/>
                <a:sym typeface="Lato"/>
              </a:rPr>
              <a:t>5 meses</a:t>
            </a:r>
            <a:r>
              <a:rPr b="0" lang="es-CL" sz="1400">
                <a:solidFill>
                  <a:srgbClr val="2D3748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 b="0" sz="1400">
              <a:solidFill>
                <a:srgbClr val="2D3748"/>
              </a:solidFill>
              <a:latin typeface="Lato"/>
              <a:ea typeface="Lato"/>
              <a:cs typeface="Lato"/>
              <a:sym typeface="Lato"/>
            </a:endParaRPr>
          </a:p>
          <a:p>
            <a:pPr indent="-317500" lvl="0" marL="457200" rtl="0" algn="l">
              <a:spcBef>
                <a:spcPts val="900"/>
              </a:spcBef>
              <a:spcAft>
                <a:spcPts val="0"/>
              </a:spcAft>
              <a:buClr>
                <a:srgbClr val="2D3748"/>
              </a:buClr>
              <a:buSzPts val="1400"/>
              <a:buFont typeface="Lato"/>
              <a:buChar char="●"/>
            </a:pPr>
            <a:r>
              <a:rPr lang="es-CL">
                <a:solidFill>
                  <a:srgbClr val="2D3748"/>
                </a:solidFill>
                <a:latin typeface="Lato"/>
                <a:ea typeface="Lato"/>
                <a:cs typeface="Lato"/>
                <a:sym typeface="Lato"/>
              </a:rPr>
              <a:t>Lograr que</a:t>
            </a:r>
            <a:r>
              <a:rPr lang="es-CL">
                <a:solidFill>
                  <a:srgbClr val="2D3748"/>
                </a:solidFill>
                <a:latin typeface="Lato"/>
                <a:ea typeface="Lato"/>
                <a:cs typeface="Lato"/>
                <a:sym typeface="Lato"/>
              </a:rPr>
              <a:t> un </a:t>
            </a:r>
            <a:r>
              <a:rPr b="1" lang="es-CL">
                <a:solidFill>
                  <a:srgbClr val="2D3748"/>
                </a:solidFill>
                <a:latin typeface="Lato"/>
                <a:ea typeface="Lato"/>
                <a:cs typeface="Lato"/>
                <a:sym typeface="Lato"/>
              </a:rPr>
              <a:t>70% </a:t>
            </a:r>
            <a:r>
              <a:rPr b="1" lang="es-CL">
                <a:solidFill>
                  <a:srgbClr val="2D3748"/>
                </a:solidFill>
                <a:latin typeface="Lato"/>
                <a:ea typeface="Lato"/>
                <a:cs typeface="Lato"/>
                <a:sym typeface="Lato"/>
              </a:rPr>
              <a:t> de los </a:t>
            </a:r>
            <a:r>
              <a:rPr b="1" lang="es-CL">
                <a:solidFill>
                  <a:srgbClr val="2D3748"/>
                </a:solidFill>
                <a:latin typeface="Lato"/>
                <a:ea typeface="Lato"/>
                <a:cs typeface="Lato"/>
                <a:sym typeface="Lato"/>
              </a:rPr>
              <a:t>usuarios de pago hagan</a:t>
            </a:r>
            <a:r>
              <a:rPr b="0" lang="es-CL" sz="1400">
                <a:solidFill>
                  <a:srgbClr val="2D3748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b="1" lang="es-CL" sz="1400">
                <a:solidFill>
                  <a:srgbClr val="2D3748"/>
                </a:solidFill>
                <a:latin typeface="Lato"/>
                <a:ea typeface="Lato"/>
                <a:cs typeface="Lato"/>
                <a:sym typeface="Lato"/>
              </a:rPr>
              <a:t>uso continuo</a:t>
            </a:r>
            <a:r>
              <a:rPr b="0" lang="es-CL" sz="1400">
                <a:solidFill>
                  <a:srgbClr val="2D3748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b="1" lang="es-CL" sz="1400">
                <a:solidFill>
                  <a:srgbClr val="2D3748"/>
                </a:solidFill>
                <a:latin typeface="Lato"/>
                <a:ea typeface="Lato"/>
                <a:cs typeface="Lato"/>
                <a:sym typeface="Lato"/>
              </a:rPr>
              <a:t>del motor de generación </a:t>
            </a:r>
            <a:r>
              <a:rPr b="0" lang="es-CL" sz="1400">
                <a:solidFill>
                  <a:srgbClr val="2D3748"/>
                </a:solidFill>
                <a:latin typeface="Lato"/>
                <a:ea typeface="Lato"/>
                <a:cs typeface="Lato"/>
                <a:sym typeface="Lato"/>
              </a:rPr>
              <a:t>semanal</a:t>
            </a:r>
            <a:r>
              <a:rPr lang="es-CL">
                <a:solidFill>
                  <a:srgbClr val="2D3748"/>
                </a:solidFill>
                <a:latin typeface="Lato"/>
                <a:ea typeface="Lato"/>
                <a:cs typeface="Lato"/>
                <a:sym typeface="Lato"/>
              </a:rPr>
              <a:t>, en </a:t>
            </a:r>
            <a:r>
              <a:rPr b="0" lang="es-CL" sz="1400">
                <a:solidFill>
                  <a:srgbClr val="2D3748"/>
                </a:solidFill>
                <a:latin typeface="Lato"/>
                <a:ea typeface="Lato"/>
                <a:cs typeface="Lato"/>
                <a:sym typeface="Lato"/>
              </a:rPr>
              <a:t>6 meses.</a:t>
            </a:r>
            <a:endParaRPr b="0" sz="1400">
              <a:solidFill>
                <a:srgbClr val="2D3748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  <p:transition spd="slow">
    <p:wipe dir="l"/>
  </p:transition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5"/>
          <p:cNvSpPr/>
          <p:nvPr/>
        </p:nvSpPr>
        <p:spPr>
          <a:xfrm>
            <a:off x="0" y="0"/>
            <a:ext cx="12192000" cy="1143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29" name="Google Shape;129;p5"/>
          <p:cNvPicPr preferRelativeResize="0"/>
          <p:nvPr/>
        </p:nvPicPr>
        <p:blipFill rotWithShape="1">
          <a:blip r:embed="rId4">
            <a:alphaModFix/>
          </a:blip>
          <a:srcRect b="0" l="0" r="0" t="10"/>
          <a:stretch/>
        </p:blipFill>
        <p:spPr>
          <a:xfrm>
            <a:off x="8953500" y="190500"/>
            <a:ext cx="2857500" cy="714300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5"/>
          <p:cNvSpPr txBox="1"/>
          <p:nvPr/>
        </p:nvSpPr>
        <p:spPr>
          <a:xfrm>
            <a:off x="381000" y="285750"/>
            <a:ext cx="3810000" cy="215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1400">
                <a:solidFill>
                  <a:srgbClr val="757070"/>
                </a:solidFill>
                <a:latin typeface="Lato"/>
                <a:ea typeface="Lato"/>
                <a:cs typeface="Lato"/>
                <a:sym typeface="Lato"/>
              </a:rPr>
              <a:t>PROYECTO “PlanificApp”</a:t>
            </a:r>
            <a:endParaRPr b="1" sz="1400">
              <a:solidFill>
                <a:srgbClr val="75707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31" name="Google Shape;131;p5"/>
          <p:cNvSpPr txBox="1"/>
          <p:nvPr/>
        </p:nvSpPr>
        <p:spPr>
          <a:xfrm>
            <a:off x="381000" y="1333500"/>
            <a:ext cx="11430000" cy="4926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3200">
                <a:solidFill>
                  <a:srgbClr val="1A202C"/>
                </a:solidFill>
                <a:latin typeface="Lato"/>
                <a:ea typeface="Lato"/>
                <a:cs typeface="Lato"/>
                <a:sym typeface="Lato"/>
              </a:rPr>
              <a:t>Alcances y limitaciones del proyecto</a:t>
            </a:r>
            <a:endParaRPr b="1" sz="3200">
              <a:solidFill>
                <a:srgbClr val="1A202C"/>
              </a:solidFill>
              <a:latin typeface="Lato"/>
              <a:ea typeface="Lato"/>
              <a:cs typeface="Lato"/>
              <a:sym typeface="Lato"/>
            </a:endParaRPr>
          </a:p>
        </p:txBody>
      </p:sp>
      <p:grpSp>
        <p:nvGrpSpPr>
          <p:cNvPr id="132" name="Google Shape;132;p5"/>
          <p:cNvGrpSpPr/>
          <p:nvPr/>
        </p:nvGrpSpPr>
        <p:grpSpPr>
          <a:xfrm>
            <a:off x="381000" y="2095500"/>
            <a:ext cx="5572200" cy="4381500"/>
            <a:chOff x="381000" y="2095500"/>
            <a:chExt cx="5572200" cy="4381500"/>
          </a:xfrm>
        </p:grpSpPr>
        <p:sp>
          <p:nvSpPr>
            <p:cNvPr id="133" name="Google Shape;133;p5"/>
            <p:cNvSpPr/>
            <p:nvPr/>
          </p:nvSpPr>
          <p:spPr>
            <a:xfrm>
              <a:off x="381000" y="2095500"/>
              <a:ext cx="5572200" cy="4381500"/>
            </a:xfrm>
            <a:prstGeom prst="roundRect">
              <a:avLst>
                <a:gd fmla="val 3260" name="adj"/>
              </a:avLst>
            </a:prstGeom>
            <a:solidFill>
              <a:srgbClr val="FFFFFF"/>
            </a:solidFill>
            <a:ln cap="flat" cmpd="sng" w="9525">
              <a:solidFill>
                <a:srgbClr val="D1D9E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" name="Google Shape;134;p5"/>
            <p:cNvSpPr/>
            <p:nvPr/>
          </p:nvSpPr>
          <p:spPr>
            <a:xfrm>
              <a:off x="381000" y="2095500"/>
              <a:ext cx="5572200" cy="571500"/>
            </a:xfrm>
            <a:prstGeom prst="roundRect">
              <a:avLst>
                <a:gd fmla="val 25000" name="adj"/>
              </a:avLst>
            </a:prstGeom>
            <a:solidFill>
              <a:srgbClr val="4472C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" name="Google Shape;135;p5"/>
            <p:cNvSpPr/>
            <p:nvPr/>
          </p:nvSpPr>
          <p:spPr>
            <a:xfrm>
              <a:off x="381000" y="2381250"/>
              <a:ext cx="5572200" cy="285900"/>
            </a:xfrm>
            <a:prstGeom prst="rect">
              <a:avLst/>
            </a:prstGeom>
            <a:solidFill>
              <a:srgbClr val="4472C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" name="Google Shape;136;p5"/>
            <p:cNvSpPr txBox="1"/>
            <p:nvPr/>
          </p:nvSpPr>
          <p:spPr>
            <a:xfrm>
              <a:off x="571500" y="2190750"/>
              <a:ext cx="51912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-CL" sz="2200">
                  <a:solidFill>
                    <a:srgbClr val="FFFFFF"/>
                  </a:solidFill>
                  <a:latin typeface="Lato"/>
                  <a:ea typeface="Lato"/>
                  <a:cs typeface="Lato"/>
                  <a:sym typeface="Lato"/>
                </a:rPr>
                <a:t>Alcance</a:t>
              </a:r>
              <a:endParaRPr b="1" sz="22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137" name="Google Shape;137;p5"/>
            <p:cNvSpPr txBox="1"/>
            <p:nvPr/>
          </p:nvSpPr>
          <p:spPr>
            <a:xfrm>
              <a:off x="571500" y="2809875"/>
              <a:ext cx="5191200" cy="3524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-311150" lvl="0" marL="457200" rtl="0" algn="l">
                <a:spcBef>
                  <a:spcPts val="0"/>
                </a:spcBef>
                <a:spcAft>
                  <a:spcPts val="0"/>
                </a:spcAft>
                <a:buClr>
                  <a:srgbClr val="2D3748"/>
                </a:buClr>
                <a:buSzPts val="1300"/>
                <a:buFont typeface="Lato"/>
                <a:buChar char="●"/>
              </a:pPr>
              <a:r>
                <a:rPr b="1" lang="es-CL" sz="1300">
                  <a:solidFill>
                    <a:srgbClr val="2D3748"/>
                  </a:solidFill>
                  <a:latin typeface="Lato"/>
                  <a:ea typeface="Lato"/>
                  <a:cs typeface="Lato"/>
                  <a:sym typeface="Lato"/>
                </a:rPr>
                <a:t>Registro Multidimensional</a:t>
              </a:r>
              <a:r>
                <a:rPr lang="es-CL" sz="1300">
                  <a:solidFill>
                    <a:srgbClr val="2D3748"/>
                  </a:solidFill>
                  <a:latin typeface="Lato"/>
                  <a:ea typeface="Lato"/>
                  <a:cs typeface="Lato"/>
                  <a:sym typeface="Lato"/>
                </a:rPr>
                <a:t>: Captura de actividades con metadatos de tipo, ubicación y tiempos.</a:t>
              </a:r>
              <a:endParaRPr sz="1300">
                <a:solidFill>
                  <a:srgbClr val="2D3748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-311150" lvl="0" marL="457200" rtl="0" algn="l">
                <a:spcBef>
                  <a:spcPts val="900"/>
                </a:spcBef>
                <a:spcAft>
                  <a:spcPts val="0"/>
                </a:spcAft>
                <a:buClr>
                  <a:srgbClr val="2D3748"/>
                </a:buClr>
                <a:buSzPts val="1300"/>
                <a:buFont typeface="Lato"/>
                <a:buChar char="●"/>
              </a:pPr>
              <a:r>
                <a:rPr b="1" lang="es-CL" sz="1300">
                  <a:solidFill>
                    <a:srgbClr val="2D3748"/>
                  </a:solidFill>
                  <a:latin typeface="Lato"/>
                  <a:ea typeface="Lato"/>
                  <a:cs typeface="Lato"/>
                  <a:sym typeface="Lato"/>
                </a:rPr>
                <a:t>Priorización Dinámica</a:t>
              </a:r>
              <a:r>
                <a:rPr lang="es-CL" sz="1300">
                  <a:solidFill>
                    <a:srgbClr val="2D3748"/>
                  </a:solidFill>
                  <a:latin typeface="Lato"/>
                  <a:ea typeface="Lato"/>
                  <a:cs typeface="Lato"/>
                  <a:sym typeface="Lato"/>
                </a:rPr>
                <a:t>: Clasificación en 5 niveles con fluctuación automática según el tiempo restante.</a:t>
              </a:r>
              <a:endParaRPr sz="1300">
                <a:solidFill>
                  <a:srgbClr val="2D3748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-311150" lvl="0" marL="457200" rtl="0" algn="l">
                <a:spcBef>
                  <a:spcPts val="900"/>
                </a:spcBef>
                <a:spcAft>
                  <a:spcPts val="0"/>
                </a:spcAft>
                <a:buClr>
                  <a:srgbClr val="2D3748"/>
                </a:buClr>
                <a:buSzPts val="1300"/>
                <a:buFont typeface="Lato"/>
                <a:buChar char="●"/>
              </a:pPr>
              <a:r>
                <a:rPr b="1" lang="es-CL" sz="1300">
                  <a:solidFill>
                    <a:srgbClr val="2D3748"/>
                  </a:solidFill>
                  <a:latin typeface="Lato"/>
                  <a:ea typeface="Lato"/>
                  <a:cs typeface="Lato"/>
                  <a:sym typeface="Lato"/>
                </a:rPr>
                <a:t>Generación Automática</a:t>
              </a:r>
              <a:r>
                <a:rPr lang="es-CL" sz="1300">
                  <a:solidFill>
                    <a:srgbClr val="2D3748"/>
                  </a:solidFill>
                  <a:latin typeface="Lato"/>
                  <a:ea typeface="Lato"/>
                  <a:cs typeface="Lato"/>
                  <a:sym typeface="Lato"/>
                </a:rPr>
                <a:t>: Motor de sugerencias semanales disponible en 3 enfoques (equilibrado, enfocado, relajado).</a:t>
              </a:r>
              <a:endParaRPr sz="1300">
                <a:solidFill>
                  <a:srgbClr val="2D3748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-311150" lvl="0" marL="457200" rtl="0" algn="l">
                <a:spcBef>
                  <a:spcPts val="900"/>
                </a:spcBef>
                <a:spcAft>
                  <a:spcPts val="0"/>
                </a:spcAft>
                <a:buClr>
                  <a:srgbClr val="2D3748"/>
                </a:buClr>
                <a:buSzPts val="1300"/>
                <a:buFont typeface="Lato"/>
                <a:buChar char="●"/>
              </a:pPr>
              <a:r>
                <a:rPr b="1" lang="es-CL" sz="1300">
                  <a:solidFill>
                    <a:srgbClr val="2D3748"/>
                  </a:solidFill>
                  <a:latin typeface="Lato"/>
                  <a:ea typeface="Lato"/>
                  <a:cs typeface="Lato"/>
                  <a:sym typeface="Lato"/>
                </a:rPr>
                <a:t>Gestión de Restricciones</a:t>
              </a:r>
              <a:r>
                <a:rPr lang="es-CL" sz="1300">
                  <a:solidFill>
                    <a:srgbClr val="2D3748"/>
                  </a:solidFill>
                  <a:latin typeface="Lato"/>
                  <a:ea typeface="Lato"/>
                  <a:cs typeface="Lato"/>
                  <a:sym typeface="Lato"/>
                </a:rPr>
                <a:t>: Integración de feriados, horas funcionales, sueño y bienestar personal.</a:t>
              </a:r>
              <a:endParaRPr sz="1300">
                <a:solidFill>
                  <a:srgbClr val="2D3748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-311150" lvl="0" marL="457200" rtl="0" algn="l">
                <a:spcBef>
                  <a:spcPts val="900"/>
                </a:spcBef>
                <a:spcAft>
                  <a:spcPts val="0"/>
                </a:spcAft>
                <a:buClr>
                  <a:srgbClr val="2D3748"/>
                </a:buClr>
                <a:buSzPts val="1300"/>
                <a:buFont typeface="Lato"/>
                <a:buChar char="●"/>
              </a:pPr>
              <a:r>
                <a:rPr b="1" lang="es-CL" sz="1300">
                  <a:solidFill>
                    <a:srgbClr val="2D3748"/>
                  </a:solidFill>
                  <a:latin typeface="Lato"/>
                  <a:ea typeface="Lato"/>
                  <a:cs typeface="Lato"/>
                  <a:sym typeface="Lato"/>
                </a:rPr>
                <a:t>Realismo Logístico</a:t>
              </a:r>
              <a:r>
                <a:rPr lang="es-CL" sz="1300">
                  <a:solidFill>
                    <a:srgbClr val="2D3748"/>
                  </a:solidFill>
                  <a:latin typeface="Lato"/>
                  <a:ea typeface="Lato"/>
                  <a:cs typeface="Lato"/>
                  <a:sym typeface="Lato"/>
                </a:rPr>
                <a:t>: Cálculo de traslados mediante Google Maps API, consideración en el tiempo de traslado según ubicaciones y método de transporte asignado.</a:t>
              </a:r>
              <a:endParaRPr sz="1300">
                <a:solidFill>
                  <a:srgbClr val="2D3748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  <p:grpSp>
        <p:nvGrpSpPr>
          <p:cNvPr id="138" name="Google Shape;138;p5"/>
          <p:cNvGrpSpPr/>
          <p:nvPr/>
        </p:nvGrpSpPr>
        <p:grpSpPr>
          <a:xfrm>
            <a:off x="6238875" y="2095500"/>
            <a:ext cx="5572200" cy="4381500"/>
            <a:chOff x="6238875" y="2095500"/>
            <a:chExt cx="5572200" cy="4381500"/>
          </a:xfrm>
        </p:grpSpPr>
        <p:sp>
          <p:nvSpPr>
            <p:cNvPr id="139" name="Google Shape;139;p5"/>
            <p:cNvSpPr/>
            <p:nvPr/>
          </p:nvSpPr>
          <p:spPr>
            <a:xfrm>
              <a:off x="6238875" y="2095500"/>
              <a:ext cx="5572200" cy="4381500"/>
            </a:xfrm>
            <a:prstGeom prst="roundRect">
              <a:avLst>
                <a:gd fmla="val 3260" name="adj"/>
              </a:avLst>
            </a:prstGeom>
            <a:solidFill>
              <a:srgbClr val="FFFFFF"/>
            </a:solidFill>
            <a:ln cap="flat" cmpd="sng" w="9525">
              <a:solidFill>
                <a:srgbClr val="D1D9E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" name="Google Shape;140;p5"/>
            <p:cNvSpPr/>
            <p:nvPr/>
          </p:nvSpPr>
          <p:spPr>
            <a:xfrm>
              <a:off x="6238875" y="2095500"/>
              <a:ext cx="5572200" cy="571500"/>
            </a:xfrm>
            <a:prstGeom prst="roundRect">
              <a:avLst>
                <a:gd fmla="val 25000" name="adj"/>
              </a:avLst>
            </a:prstGeom>
            <a:solidFill>
              <a:srgbClr val="71809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" name="Google Shape;141;p5"/>
            <p:cNvSpPr/>
            <p:nvPr/>
          </p:nvSpPr>
          <p:spPr>
            <a:xfrm>
              <a:off x="6238875" y="2381250"/>
              <a:ext cx="5572200" cy="285900"/>
            </a:xfrm>
            <a:prstGeom prst="rect">
              <a:avLst/>
            </a:prstGeom>
            <a:solidFill>
              <a:srgbClr val="71809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" name="Google Shape;142;p5"/>
            <p:cNvSpPr txBox="1"/>
            <p:nvPr/>
          </p:nvSpPr>
          <p:spPr>
            <a:xfrm>
              <a:off x="6429375" y="2190750"/>
              <a:ext cx="51912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-CL" sz="2200">
                  <a:solidFill>
                    <a:srgbClr val="FFFFFF"/>
                  </a:solidFill>
                  <a:latin typeface="Lato"/>
                  <a:ea typeface="Lato"/>
                  <a:cs typeface="Lato"/>
                  <a:sym typeface="Lato"/>
                </a:rPr>
                <a:t>Limitaciones</a:t>
              </a:r>
              <a:endParaRPr b="1" sz="22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143" name="Google Shape;143;p5"/>
            <p:cNvSpPr txBox="1"/>
            <p:nvPr/>
          </p:nvSpPr>
          <p:spPr>
            <a:xfrm>
              <a:off x="6429375" y="2809875"/>
              <a:ext cx="5191200" cy="3524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-311150" lvl="0" marL="457200" rtl="0" algn="l">
                <a:spcBef>
                  <a:spcPts val="0"/>
                </a:spcBef>
                <a:spcAft>
                  <a:spcPts val="0"/>
                </a:spcAft>
                <a:buClr>
                  <a:srgbClr val="2D3748"/>
                </a:buClr>
                <a:buSzPts val="1300"/>
                <a:buFont typeface="Lato"/>
                <a:buChar char="●"/>
              </a:pPr>
              <a:r>
                <a:rPr b="1" lang="es-CL" sz="1300">
                  <a:solidFill>
                    <a:srgbClr val="2D3748"/>
                  </a:solidFill>
                  <a:latin typeface="Lato"/>
                  <a:ea typeface="Lato"/>
                  <a:cs typeface="Lato"/>
                  <a:sym typeface="Lato"/>
                </a:rPr>
                <a:t>Integridad de Datos</a:t>
              </a:r>
              <a:r>
                <a:rPr lang="es-CL" sz="1300">
                  <a:solidFill>
                    <a:srgbClr val="2D3748"/>
                  </a:solidFill>
                  <a:latin typeface="Lato"/>
                  <a:ea typeface="Lato"/>
                  <a:cs typeface="Lato"/>
                  <a:sym typeface="Lato"/>
                </a:rPr>
                <a:t>: El sistema no elimina actividades; el usuario gestiona sus prioridades.</a:t>
              </a:r>
              <a:endParaRPr sz="1300">
                <a:solidFill>
                  <a:srgbClr val="2D3748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-311150" lvl="0" marL="457200" rtl="0" algn="l">
                <a:spcBef>
                  <a:spcPts val="900"/>
                </a:spcBef>
                <a:spcAft>
                  <a:spcPts val="0"/>
                </a:spcAft>
                <a:buClr>
                  <a:srgbClr val="2D3748"/>
                </a:buClr>
                <a:buSzPts val="1300"/>
                <a:buFont typeface="Lato"/>
                <a:buChar char="●"/>
              </a:pPr>
              <a:r>
                <a:rPr b="1" lang="es-CL" sz="1300">
                  <a:solidFill>
                    <a:srgbClr val="2D3748"/>
                  </a:solidFill>
                  <a:latin typeface="Lato"/>
                  <a:ea typeface="Lato"/>
                  <a:cs typeface="Lato"/>
                  <a:sym typeface="Lato"/>
                </a:rPr>
                <a:t>Comunicación Social</a:t>
              </a:r>
              <a:r>
                <a:rPr lang="es-CL" sz="1300">
                  <a:solidFill>
                    <a:srgbClr val="2D3748"/>
                  </a:solidFill>
                  <a:latin typeface="Lato"/>
                  <a:ea typeface="Lato"/>
                  <a:cs typeface="Lato"/>
                  <a:sym typeface="Lato"/>
                </a:rPr>
                <a:t>: No es una red social; sin mensajería ni intercambio de archivos.</a:t>
              </a:r>
              <a:endParaRPr sz="1300">
                <a:solidFill>
                  <a:srgbClr val="2D3748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-311150" lvl="0" marL="457200" rtl="0" algn="l">
                <a:spcBef>
                  <a:spcPts val="900"/>
                </a:spcBef>
                <a:spcAft>
                  <a:spcPts val="0"/>
                </a:spcAft>
                <a:buClr>
                  <a:srgbClr val="2D3748"/>
                </a:buClr>
                <a:buSzPts val="1300"/>
                <a:buFont typeface="Lato"/>
                <a:buChar char="●"/>
              </a:pPr>
              <a:r>
                <a:rPr b="1" lang="es-CL" sz="1300">
                  <a:solidFill>
                    <a:srgbClr val="2D3748"/>
                  </a:solidFill>
                  <a:latin typeface="Lato"/>
                  <a:ea typeface="Lato"/>
                  <a:cs typeface="Lato"/>
                  <a:sym typeface="Lato"/>
                </a:rPr>
                <a:t>Restricción Geográfica</a:t>
              </a:r>
              <a:r>
                <a:rPr lang="es-CL" sz="1300">
                  <a:solidFill>
                    <a:srgbClr val="2D3748"/>
                  </a:solidFill>
                  <a:latin typeface="Lato"/>
                  <a:ea typeface="Lato"/>
                  <a:cs typeface="Lato"/>
                  <a:sym typeface="Lato"/>
                </a:rPr>
                <a:t>: Operatividad limitada exclusivamente a Chile.</a:t>
              </a:r>
              <a:endParaRPr sz="1300">
                <a:solidFill>
                  <a:srgbClr val="2D3748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-311150" lvl="0" marL="457200" rtl="0" algn="l">
                <a:spcBef>
                  <a:spcPts val="900"/>
                </a:spcBef>
                <a:spcAft>
                  <a:spcPts val="0"/>
                </a:spcAft>
                <a:buClr>
                  <a:srgbClr val="2D3748"/>
                </a:buClr>
                <a:buSzPts val="1300"/>
                <a:buFont typeface="Lato"/>
                <a:buChar char="●"/>
              </a:pPr>
              <a:r>
                <a:rPr b="1" lang="es-CL" sz="1300">
                  <a:solidFill>
                    <a:srgbClr val="2D3748"/>
                  </a:solidFill>
                  <a:latin typeface="Lato"/>
                  <a:ea typeface="Lato"/>
                  <a:cs typeface="Lato"/>
                  <a:sym typeface="Lato"/>
                </a:rPr>
                <a:t>Integración Externa</a:t>
              </a:r>
              <a:r>
                <a:rPr lang="es-CL" sz="1300">
                  <a:solidFill>
                    <a:srgbClr val="2D3748"/>
                  </a:solidFill>
                  <a:latin typeface="Lato"/>
                  <a:ea typeface="Lato"/>
                  <a:cs typeface="Lato"/>
                  <a:sym typeface="Lato"/>
                </a:rPr>
                <a:t>: Sincronización con Google Calendar sujeta a validación futura.</a:t>
              </a:r>
              <a:endParaRPr sz="1300">
                <a:solidFill>
                  <a:srgbClr val="2D3748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-311150" lvl="0" marL="457200" rtl="0" algn="l">
                <a:spcBef>
                  <a:spcPts val="900"/>
                </a:spcBef>
                <a:spcAft>
                  <a:spcPts val="0"/>
                </a:spcAft>
                <a:buClr>
                  <a:srgbClr val="2D3748"/>
                </a:buClr>
                <a:buSzPts val="1300"/>
                <a:buFont typeface="Lato"/>
                <a:buChar char="●"/>
              </a:pPr>
              <a:r>
                <a:rPr b="1" lang="es-CL" sz="1300">
                  <a:solidFill>
                    <a:srgbClr val="2D3748"/>
                  </a:solidFill>
                  <a:latin typeface="Lato"/>
                  <a:ea typeface="Lato"/>
                  <a:cs typeface="Lato"/>
                  <a:sym typeface="Lato"/>
                </a:rPr>
                <a:t>Restricciones de Generación</a:t>
              </a:r>
              <a:r>
                <a:rPr lang="es-CL" sz="1300">
                  <a:solidFill>
                    <a:srgbClr val="2D3748"/>
                  </a:solidFill>
                  <a:latin typeface="Lato"/>
                  <a:ea typeface="Lato"/>
                  <a:cs typeface="Lato"/>
                  <a:sym typeface="Lato"/>
                </a:rPr>
                <a:t>: Datos limitados a las áreas de interés consideradas por el usuario.</a:t>
              </a:r>
              <a:endParaRPr sz="1300">
                <a:solidFill>
                  <a:srgbClr val="2D3748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</p:spTree>
  </p:cSld>
  <p:clrMapOvr>
    <a:masterClrMapping/>
  </p:clrMapOvr>
  <p:transition spd="slow">
    <p:wipe dir="l"/>
  </p:transition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6"/>
          <p:cNvSpPr/>
          <p:nvPr/>
        </p:nvSpPr>
        <p:spPr>
          <a:xfrm>
            <a:off x="0" y="0"/>
            <a:ext cx="12192000" cy="1143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9" name="Google Shape;149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953500" y="190500"/>
            <a:ext cx="2857500" cy="714300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6"/>
          <p:cNvSpPr txBox="1"/>
          <p:nvPr/>
        </p:nvSpPr>
        <p:spPr>
          <a:xfrm>
            <a:off x="381000" y="285750"/>
            <a:ext cx="3810000" cy="215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1400">
                <a:solidFill>
                  <a:srgbClr val="757070"/>
                </a:solidFill>
                <a:latin typeface="Lato"/>
                <a:ea typeface="Lato"/>
                <a:cs typeface="Lato"/>
                <a:sym typeface="Lato"/>
              </a:rPr>
              <a:t>PROYECTO “PlanificApp”</a:t>
            </a:r>
            <a:endParaRPr b="1" sz="1400">
              <a:solidFill>
                <a:srgbClr val="75707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51" name="Google Shape;151;p6"/>
          <p:cNvSpPr txBox="1"/>
          <p:nvPr/>
        </p:nvSpPr>
        <p:spPr>
          <a:xfrm>
            <a:off x="381000" y="1333500"/>
            <a:ext cx="11430000" cy="4926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3200">
                <a:solidFill>
                  <a:srgbClr val="1A202C"/>
                </a:solidFill>
                <a:latin typeface="Lato"/>
                <a:ea typeface="Lato"/>
                <a:cs typeface="Lato"/>
                <a:sym typeface="Lato"/>
              </a:rPr>
              <a:t>Metodología de Trabajo</a:t>
            </a:r>
            <a:endParaRPr b="1" sz="3200">
              <a:solidFill>
                <a:srgbClr val="1A202C"/>
              </a:solidFill>
              <a:latin typeface="Lato"/>
              <a:ea typeface="Lato"/>
              <a:cs typeface="Lato"/>
              <a:sym typeface="Lato"/>
            </a:endParaRPr>
          </a:p>
        </p:txBody>
      </p:sp>
      <p:grpSp>
        <p:nvGrpSpPr>
          <p:cNvPr id="152" name="Google Shape;152;p6"/>
          <p:cNvGrpSpPr/>
          <p:nvPr/>
        </p:nvGrpSpPr>
        <p:grpSpPr>
          <a:xfrm>
            <a:off x="381000" y="2095500"/>
            <a:ext cx="5429400" cy="4000500"/>
            <a:chOff x="381000" y="2095500"/>
            <a:chExt cx="5429400" cy="4000500"/>
          </a:xfrm>
        </p:grpSpPr>
        <p:sp>
          <p:nvSpPr>
            <p:cNvPr id="153" name="Google Shape;153;p6"/>
            <p:cNvSpPr/>
            <p:nvPr/>
          </p:nvSpPr>
          <p:spPr>
            <a:xfrm>
              <a:off x="381000" y="2095500"/>
              <a:ext cx="5429400" cy="4000500"/>
            </a:xfrm>
            <a:prstGeom prst="roundRect">
              <a:avLst>
                <a:gd fmla="val 3571" name="adj"/>
              </a:avLst>
            </a:prstGeom>
            <a:solidFill>
              <a:srgbClr val="F0F4F8"/>
            </a:solidFill>
            <a:ln cap="flat" cmpd="sng" w="9525">
              <a:solidFill>
                <a:srgbClr val="D1D9E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" name="Google Shape;154;p6"/>
            <p:cNvSpPr txBox="1"/>
            <p:nvPr/>
          </p:nvSpPr>
          <p:spPr>
            <a:xfrm>
              <a:off x="571500" y="2338578"/>
              <a:ext cx="5715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CL" sz="3600">
                  <a:solidFill>
                    <a:srgbClr val="4472C4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update</a:t>
              </a:r>
              <a:endParaRPr sz="3600">
                <a:solidFill>
                  <a:srgbClr val="4472C4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155" name="Google Shape;155;p6"/>
            <p:cNvSpPr txBox="1"/>
            <p:nvPr/>
          </p:nvSpPr>
          <p:spPr>
            <a:xfrm>
              <a:off x="1238250" y="2286000"/>
              <a:ext cx="42864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-CL" sz="2000">
                  <a:solidFill>
                    <a:srgbClr val="2D3748"/>
                  </a:solidFill>
                  <a:latin typeface="Lato"/>
                  <a:ea typeface="Lato"/>
                  <a:cs typeface="Lato"/>
                  <a:sym typeface="Lato"/>
                </a:rPr>
                <a:t>1. Gestión Ágil (Scrum)</a:t>
              </a:r>
              <a:endParaRPr b="1" sz="2000">
                <a:solidFill>
                  <a:srgbClr val="2D3748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156" name="Google Shape;156;p6"/>
            <p:cNvSpPr txBox="1"/>
            <p:nvPr/>
          </p:nvSpPr>
          <p:spPr>
            <a:xfrm>
              <a:off x="666750" y="2952750"/>
              <a:ext cx="4857900" cy="295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-CL" sz="1400">
                  <a:solidFill>
                    <a:srgbClr val="4472C4"/>
                  </a:solidFill>
                  <a:latin typeface="Lato"/>
                  <a:ea typeface="Lato"/>
                  <a:cs typeface="Lato"/>
                  <a:sym typeface="Lato"/>
                </a:rPr>
                <a:t>Ciclos Iterativos</a:t>
              </a:r>
              <a:endParaRPr b="1" sz="1400">
                <a:solidFill>
                  <a:srgbClr val="4472C4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CL" sz="1400">
                  <a:solidFill>
                    <a:srgbClr val="4A5568"/>
                  </a:solidFill>
                  <a:latin typeface="Lato"/>
                  <a:ea typeface="Lato"/>
                  <a:cs typeface="Lato"/>
                  <a:sym typeface="Lato"/>
                </a:rPr>
                <a:t>4 Sprints diseñados para la agilidad: Fase 0 (7 semanas) y S1-S4 de 2 semanas cada uno.</a:t>
              </a:r>
              <a:endParaRPr sz="1400">
                <a:solidFill>
                  <a:srgbClr val="4A5568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b="1" lang="es-CL" sz="1400">
                  <a:solidFill>
                    <a:srgbClr val="4472C4"/>
                  </a:solidFill>
                  <a:latin typeface="Lato"/>
                  <a:ea typeface="Lato"/>
                  <a:cs typeface="Lato"/>
                  <a:sym typeface="Lato"/>
                </a:rPr>
                <a:t>Gestión del Backlog</a:t>
              </a:r>
              <a:endParaRPr b="1" sz="1400">
                <a:solidFill>
                  <a:srgbClr val="4472C4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1125"/>
                </a:spcAft>
                <a:buNone/>
              </a:pPr>
              <a:r>
                <a:rPr lang="es-CL" sz="1400">
                  <a:solidFill>
                    <a:srgbClr val="4A5568"/>
                  </a:solidFill>
                  <a:latin typeface="Lato"/>
                  <a:ea typeface="Lato"/>
                  <a:cs typeface="Lato"/>
                  <a:sym typeface="Lato"/>
                </a:rPr>
                <a:t>Priorización estratégica de 668 puntos de historia mediante la técnica Planning Poker.</a:t>
              </a:r>
              <a:endParaRPr sz="1400">
                <a:solidFill>
                  <a:srgbClr val="4A5568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  <p:grpSp>
        <p:nvGrpSpPr>
          <p:cNvPr id="157" name="Google Shape;157;p6"/>
          <p:cNvGrpSpPr/>
          <p:nvPr/>
        </p:nvGrpSpPr>
        <p:grpSpPr>
          <a:xfrm>
            <a:off x="6191250" y="2095500"/>
            <a:ext cx="5429400" cy="4000500"/>
            <a:chOff x="6191250" y="2095500"/>
            <a:chExt cx="5429400" cy="4000500"/>
          </a:xfrm>
        </p:grpSpPr>
        <p:sp>
          <p:nvSpPr>
            <p:cNvPr id="158" name="Google Shape;158;p6"/>
            <p:cNvSpPr/>
            <p:nvPr/>
          </p:nvSpPr>
          <p:spPr>
            <a:xfrm>
              <a:off x="6191250" y="2095500"/>
              <a:ext cx="5429400" cy="4000500"/>
            </a:xfrm>
            <a:prstGeom prst="roundRect">
              <a:avLst>
                <a:gd fmla="val 3571" name="adj"/>
              </a:avLst>
            </a:prstGeom>
            <a:solidFill>
              <a:srgbClr val="F0F4F8"/>
            </a:solidFill>
            <a:ln cap="flat" cmpd="sng" w="9525">
              <a:solidFill>
                <a:srgbClr val="D1D9E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" name="Google Shape;159;p6"/>
            <p:cNvSpPr txBox="1"/>
            <p:nvPr/>
          </p:nvSpPr>
          <p:spPr>
            <a:xfrm>
              <a:off x="6381750" y="2338578"/>
              <a:ext cx="5715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CL" sz="3600">
                  <a:solidFill>
                    <a:srgbClr val="4472C4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architecture</a:t>
              </a:r>
              <a:endParaRPr sz="3600">
                <a:solidFill>
                  <a:srgbClr val="4472C4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160" name="Google Shape;160;p6"/>
            <p:cNvSpPr txBox="1"/>
            <p:nvPr/>
          </p:nvSpPr>
          <p:spPr>
            <a:xfrm>
              <a:off x="7048500" y="2286000"/>
              <a:ext cx="42864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-CL" sz="2000">
                  <a:solidFill>
                    <a:srgbClr val="2D3748"/>
                  </a:solidFill>
                  <a:latin typeface="Lato"/>
                  <a:ea typeface="Lato"/>
                  <a:cs typeface="Lato"/>
                  <a:sym typeface="Lato"/>
                </a:rPr>
                <a:t>2. Arquitectura y Desarrollo</a:t>
              </a:r>
              <a:endParaRPr b="1" sz="2000">
                <a:solidFill>
                  <a:srgbClr val="2D3748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161" name="Google Shape;161;p6"/>
            <p:cNvSpPr txBox="1"/>
            <p:nvPr/>
          </p:nvSpPr>
          <p:spPr>
            <a:xfrm>
              <a:off x="6477000" y="2952750"/>
              <a:ext cx="4857900" cy="295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-CL" sz="1300">
                  <a:solidFill>
                    <a:srgbClr val="4472C4"/>
                  </a:solidFill>
                  <a:latin typeface="Lato"/>
                  <a:ea typeface="Lato"/>
                  <a:cs typeface="Lato"/>
                  <a:sym typeface="Lato"/>
                </a:rPr>
                <a:t>Desarrollo MVVM</a:t>
              </a:r>
              <a:endParaRPr b="1" sz="1300">
                <a:solidFill>
                  <a:srgbClr val="4472C4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CL" sz="1300">
                  <a:solidFill>
                    <a:srgbClr val="4A5568"/>
                  </a:solidFill>
                  <a:latin typeface="Lato"/>
                  <a:ea typeface="Lato"/>
                  <a:cs typeface="Lato"/>
                  <a:sym typeface="Lato"/>
                </a:rPr>
                <a:t>Separación estricta: View (Presentación), ViewModel (Lógica) y Model (Datos con MongoDB).</a:t>
              </a:r>
              <a:endParaRPr sz="1300">
                <a:solidFill>
                  <a:srgbClr val="4A5568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1" lang="es-CL" sz="1300">
                  <a:solidFill>
                    <a:srgbClr val="4472C4"/>
                  </a:solidFill>
                  <a:latin typeface="Lato"/>
                  <a:ea typeface="Lato"/>
                  <a:cs typeface="Lato"/>
                  <a:sym typeface="Lato"/>
                </a:rPr>
                <a:t>Control de Versiones</a:t>
              </a:r>
              <a:endParaRPr b="1" sz="1300">
                <a:solidFill>
                  <a:srgbClr val="4472C4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CL" sz="1300">
                  <a:solidFill>
                    <a:srgbClr val="4A5568"/>
                  </a:solidFill>
                  <a:latin typeface="Lato"/>
                  <a:ea typeface="Lato"/>
                  <a:cs typeface="Lato"/>
                  <a:sym typeface="Lato"/>
                </a:rPr>
                <a:t>Flujo de trabajo Git profesional con ramificación basada en funcionalidades.</a:t>
              </a:r>
              <a:endParaRPr sz="1300">
                <a:solidFill>
                  <a:srgbClr val="4A5568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1" lang="es-CL" sz="1300">
                  <a:solidFill>
                    <a:srgbClr val="4472C4"/>
                  </a:solidFill>
                  <a:latin typeface="Lato"/>
                  <a:ea typeface="Lato"/>
                  <a:cs typeface="Lato"/>
                  <a:sym typeface="Lato"/>
                </a:rPr>
                <a:t>Modelo C4</a:t>
              </a:r>
              <a:endParaRPr b="1" sz="1300">
                <a:solidFill>
                  <a:srgbClr val="4472C4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CL" sz="1300">
                  <a:solidFill>
                    <a:srgbClr val="4A5568"/>
                  </a:solidFill>
                  <a:latin typeface="Lato"/>
                  <a:ea typeface="Lato"/>
                  <a:cs typeface="Lato"/>
                  <a:sym typeface="Lato"/>
                </a:rPr>
                <a:t>Diseño arquitectónico robusto estructurado por capas para máxima escalabilidad.</a:t>
              </a:r>
              <a:endParaRPr sz="1300">
                <a:solidFill>
                  <a:srgbClr val="4A5568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00">
                <a:solidFill>
                  <a:srgbClr val="4A5568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b="1" lang="es-CL" sz="1300">
                  <a:solidFill>
                    <a:schemeClr val="accent1"/>
                  </a:solidFill>
                  <a:latin typeface="Lato"/>
                  <a:ea typeface="Lato"/>
                  <a:cs typeface="Lato"/>
                  <a:sym typeface="Lato"/>
                </a:rPr>
                <a:t>Patrón SOLID</a:t>
              </a:r>
              <a:endParaRPr b="1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s-CL" sz="1300">
                  <a:solidFill>
                    <a:srgbClr val="4A5568"/>
                  </a:solidFill>
                  <a:latin typeface="Lato"/>
                  <a:ea typeface="Lato"/>
                  <a:cs typeface="Lato"/>
                  <a:sym typeface="Lato"/>
                </a:rPr>
                <a:t>Conjunto de reglas aplicadas al desarrollo de código.</a:t>
              </a:r>
              <a:endParaRPr sz="1300">
                <a:solidFill>
                  <a:srgbClr val="4A5568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</p:spTree>
  </p:cSld>
  <p:clrMapOvr>
    <a:masterClrMapping/>
  </p:clrMapOvr>
  <p:transition spd="slow">
    <p:wipe dir="l"/>
  </p:transition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66" name="Google Shape;166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7"/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</a:t>
            </a: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PlanificApp</a:t>
            </a: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”</a:t>
            </a:r>
            <a:endParaRPr/>
          </a:p>
        </p:txBody>
      </p:sp>
      <p:sp>
        <p:nvSpPr>
          <p:cNvPr id="168" name="Google Shape;168;p7"/>
          <p:cNvSpPr txBox="1"/>
          <p:nvPr/>
        </p:nvSpPr>
        <p:spPr>
          <a:xfrm>
            <a:off x="1" y="2642131"/>
            <a:ext cx="12192000" cy="9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Cronograma para el desarrollo del proyecto</a:t>
            </a:r>
            <a:endParaRPr sz="38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rgbClr val="75707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9" name="Google Shape;169;p7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"/>
            <a:headEnd len="sm" w="sm" type="none"/>
            <a:tailEnd len="sm" w="sm" type="none"/>
          </a:ln>
        </p:spPr>
      </p:cxnSp>
    </p:spTree>
  </p:cSld>
  <p:clrMapOvr>
    <a:masterClrMapping/>
  </p:clrMapOvr>
  <p:transition spd="slow">
    <p:wipe dir="l"/>
  </p:transition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4" name="Google Shape;174;g3edca487b0d_2_30"/>
          <p:cNvGraphicFramePr/>
          <p:nvPr/>
        </p:nvGraphicFramePr>
        <p:xfrm>
          <a:off x="-54" y="13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{DB644530-E7AB-4248-B79D-80F947CFC1CB}</a:tableStyleId>
              </a:tblPr>
              <a:tblGrid>
                <a:gridCol w="573850"/>
                <a:gridCol w="1119300"/>
                <a:gridCol w="1296450"/>
                <a:gridCol w="1096325"/>
                <a:gridCol w="992100"/>
                <a:gridCol w="1557300"/>
                <a:gridCol w="1302600"/>
                <a:gridCol w="987425"/>
                <a:gridCol w="964600"/>
                <a:gridCol w="1126175"/>
                <a:gridCol w="1175875"/>
              </a:tblGrid>
              <a:tr h="270850">
                <a:tc rowSpan="2"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11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Actividad</a:t>
                      </a:r>
                      <a:endParaRPr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10"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Sprint 1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2EFD9"/>
                    </a:solidFill>
                  </a:tcPr>
                </a:tc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</a:tr>
              <a:tr h="241950">
                <a:tc vMerge="1"/>
                <a:tc gridSpan="7"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11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 8</a:t>
                      </a:r>
                      <a:endParaRPr b="1" sz="11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2EFD9"/>
                    </a:solidFill>
                  </a:tcPr>
                </a:tc>
                <a:tc hMerge="1"/>
                <a:tc hMerge="1"/>
                <a:tc hMerge="1"/>
                <a:tc hMerge="1"/>
                <a:tc hMerge="1"/>
                <a:tc hMerge="1"/>
                <a:tc gridSpan="3"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11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 9</a:t>
                      </a:r>
                      <a:endParaRPr b="1"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2EFD9"/>
                    </a:solidFill>
                  </a:tcPr>
                </a:tc>
                <a:tc hMerge="1"/>
                <a:tc hMerge="1"/>
              </a:tr>
              <a:tr h="1092925"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HIstoria de usuario</a:t>
                      </a:r>
                      <a:endParaRPr b="1"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Historia: E1-H1 - Necesito registrar mis actividades</a:t>
                      </a:r>
                      <a:endParaRPr b="1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2EF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Historia: E1-H2 - Necesito poder visualizar mis actividades (lista y calendario)</a:t>
                      </a:r>
                      <a:endParaRPr b="1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2EF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Historia: E1-H3 - Necesito poder modificar mis actividades creadas (calendario y/o lista)</a:t>
                      </a:r>
                      <a:endParaRPr b="1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2EF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Historia: E1-H4 - Necesito poder eliminar actividades</a:t>
                      </a:r>
                      <a:endParaRPr b="1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2EF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Historia: E5-H1 - Necesito poder registrar una cuenta</a:t>
                      </a:r>
                      <a:endParaRPr b="1"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2EF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Historia: E5-H7 - Como usuario necesito que mi contraseña se </a:t>
                      </a:r>
                      <a:r>
                        <a:rPr b="1" lang="es-CL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encuentra</a:t>
                      </a:r>
                      <a:r>
                        <a:rPr b="1" lang="es-CL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encriptada</a:t>
                      </a:r>
                      <a:endParaRPr b="1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2EF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Historia: E5-H2 - Necesito poder validar mi cuenta por un correo de confirmación de cuenta</a:t>
                      </a:r>
                      <a:endParaRPr b="1"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2EF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Historia: E5-H4 - Necesito poder acceder a mi cuenta</a:t>
                      </a:r>
                      <a:endParaRPr b="1"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2EF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Historia: E5-H5 - Necesito poder modificar información asociada a mi cuenta</a:t>
                      </a:r>
                      <a:endParaRPr b="1"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2EF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Historia: E8-H1 - Necesito definir áreas de interés y su modalidad</a:t>
                      </a:r>
                      <a:endParaRPr b="1"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2EFD9"/>
                    </a:solidFill>
                  </a:tcPr>
                </a:tc>
              </a:tr>
              <a:tr h="1092925">
                <a:tc rowSpan="6"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Actividad</a:t>
                      </a:r>
                      <a:endParaRPr b="1"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Crear una clase llamada actividad con todos los atributos asociados de acuerdo a lo planificado dentro del diseño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Creación de vista inbox de acuerdo a mockup </a:t>
                      </a:r>
                      <a:endParaRPr b="1"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Generar una vista de detalle tarea de acuerdo al mockup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Arial"/>
                        <a:buNone/>
                      </a:pPr>
                      <a:r>
                        <a:rPr b="1" lang="es-CL" sz="8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Crear botón de "opciones" dentro de la vista de detalle tarea</a:t>
                      </a:r>
                      <a:endParaRPr b="1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Crear un Cluster donde almacenar la información de la aplicación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Investigar librerías para encriptación de contraseñas o información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Investigar librerías para el envío de correo y validación de cuentas</a:t>
                      </a:r>
                      <a:endParaRPr b="1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Crear una vista de "Login" de acuerdo a mockup</a:t>
                      </a:r>
                      <a:endParaRPr b="1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Crear vista de Configuración</a:t>
                      </a:r>
                      <a:endParaRPr b="1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Crear clase areaDeInteres</a:t>
                      </a:r>
                      <a:endParaRPr b="1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092925">
                <a:tc vMerge="1"/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Creación de validaciones asociadas a la creación de instancias de tarea de acuerdo a reglas de negocio</a:t>
                      </a:r>
                      <a:endParaRPr b="1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Obtención de actividad sin ningún área de interés asociada</a:t>
                      </a:r>
                      <a:endParaRPr b="1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Hacer campos modificables interactuables para escribir dentro de la vista de detalle actividad</a:t>
                      </a:r>
                      <a:endParaRPr b="1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Generar despliegue de opciones asociadas a las actividades</a:t>
                      </a:r>
                      <a:endParaRPr b="1" sz="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Creación de clase "usuario" junto con las validaciones definidas dentro del diseño de la aplicación</a:t>
                      </a:r>
                      <a:endParaRPr b="1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Creación de clase "encriptacionContra" para la encriptación de contraseña</a:t>
                      </a:r>
                      <a:endParaRPr b="1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Implementar el envío de correo para la validación de cuenta</a:t>
                      </a:r>
                      <a:endParaRPr b="1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Creación de clase para ingreso de cuenta</a:t>
                      </a:r>
                      <a:endParaRPr b="1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Crear vista de configuración de cuenta</a:t>
                      </a:r>
                      <a:endParaRPr b="1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Crear lógica asociada a la creación de áreas de interés</a:t>
                      </a:r>
                      <a:endParaRPr b="1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07175">
                <a:tc vMerge="1"/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Creación del código del programa donde almacenar las tareas creadas</a:t>
                      </a:r>
                      <a:endParaRPr b="1"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Listar todas las actividades obtenidas en vista Inbox</a:t>
                      </a:r>
                      <a:endParaRPr b="1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Crear clase actualizarTarea, con un método de actualizacionDeTareas</a:t>
                      </a:r>
                      <a:endParaRPr b="1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Generar opción de "Eliminar"</a:t>
                      </a:r>
                      <a:endParaRPr b="1" sz="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Creación de vista de registro de usuario de acuerdo al mockup</a:t>
                      </a:r>
                      <a:endParaRPr b="1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Implementación de encriptación en la creación de cuentas</a:t>
                      </a:r>
                      <a:endParaRPr b="1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Validar los datos ingresados con lo de la BDD</a:t>
                      </a:r>
                      <a:endParaRPr b="1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Aplicar los cambios realizados en los campos de "Cuenta" en la BD</a:t>
                      </a:r>
                      <a:endParaRPr b="1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Crear un sidebar y un apartado dentro del sideBar del área de interés</a:t>
                      </a:r>
                      <a:endParaRPr b="1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092925">
                <a:tc vMerge="1"/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Invocar método de actualizacionActividades para la actualización de tareas</a:t>
                      </a:r>
                      <a:endParaRPr b="1"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Crear clase "eliminarActividad"</a:t>
                      </a:r>
                      <a:endParaRPr b="1" sz="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En caso de registro exitoso, mostrar mensaje que indique "Revise su correo para validar su cuenta"; en caso de fallo indicar "el registro falló, inténtelo nuevamente"</a:t>
                      </a:r>
                      <a:endParaRPr b="1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Creación de clase de validacionCuenta</a:t>
                      </a:r>
                      <a:endParaRPr b="1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En caso de ingreso correcto, permitir ingreso a la aplicación; de lo contrario mostrar mensaje de error</a:t>
                      </a:r>
                      <a:endParaRPr b="1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Mostrar un mensaje de confirmación o error según corresponda</a:t>
                      </a:r>
                      <a:endParaRPr b="1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21450">
                <a:tc vMerge="1"/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Eliminar actividad de la colección</a:t>
                      </a:r>
                      <a:endParaRPr b="1" sz="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Testeo de desencriptación de contraseñas</a:t>
                      </a:r>
                      <a:endParaRPr b="1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44825">
                <a:tc vMerge="1"/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Mostrar un mensaje de que la actividad fue eliminada correctamente</a:t>
                      </a:r>
                      <a:endParaRPr b="1" sz="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9" name="Google Shape;179;g3edca487b0d_2_53"/>
          <p:cNvGraphicFramePr/>
          <p:nvPr/>
        </p:nvGraphicFramePr>
        <p:xfrm>
          <a:off x="80771" y="11388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{DB644530-E7AB-4248-B79D-80F947CFC1CB}</a:tableStyleId>
              </a:tblPr>
              <a:tblGrid>
                <a:gridCol w="708200"/>
                <a:gridCol w="1541250"/>
                <a:gridCol w="1258800"/>
                <a:gridCol w="1808500"/>
                <a:gridCol w="1561200"/>
                <a:gridCol w="1414700"/>
                <a:gridCol w="1276075"/>
                <a:gridCol w="1179300"/>
                <a:gridCol w="1245550"/>
              </a:tblGrid>
              <a:tr h="231500">
                <a:tc rowSpan="2"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Actividad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8"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Sprint 2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 hMerge="1"/>
                <a:tc hMerge="1"/>
                <a:tc hMerge="1"/>
                <a:tc hMerge="1"/>
                <a:tc hMerge="1"/>
                <a:tc hMerge="1"/>
                <a:tc hMerge="1"/>
              </a:tr>
              <a:tr h="206800">
                <a:tc vMerge="1"/>
                <a:tc gridSpan="5"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 3</a:t>
                      </a:r>
                      <a:endParaRPr b="1" sz="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 hMerge="1"/>
                <a:tc hMerge="1"/>
                <a:tc hMerge="1"/>
                <a:tc hMerge="1"/>
                <a:tc gridSpan="3"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 4</a:t>
                      </a:r>
                      <a:endParaRPr b="1"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 hMerge="1"/>
                <a:tc hMerge="1"/>
              </a:tr>
              <a:tr h="1199825"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HIstoria de usuario</a:t>
                      </a:r>
                      <a:endParaRPr b="1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Historia: E1-H6 - Necesito poder asignar de manera sencilla el tiempo estimado para cada actividad</a:t>
                      </a:r>
                      <a:endParaRPr b="1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Historia: E10-H1 - Necesito establecer el valor predeterminado acerca de desde qué hora y hasta qué hora del día estaré haciendo actividades</a:t>
                      </a:r>
                      <a:endParaRPr b="1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Historia: E4-H3 - Necesito poder clasificar las actividades como actividades de "responsabilidad" o de "recreación"</a:t>
                      </a:r>
                      <a:endParaRPr b="1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Historia: E4-H4 - Necesito poder clasificar las actividades como actividades físicas o mentales.</a:t>
                      </a:r>
                      <a:endParaRPr b="1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Historia: E6-H1 - Necesito establecer el lugar y el método de transporte que utilizaré para llegar al lugar de mi actividad</a:t>
                      </a:r>
                      <a:endParaRPr b="1"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Historia: E6-H2 - Necesito definir un método de transporte y una ubicación por defecto para mis actividades y áreas de interés...</a:t>
                      </a:r>
                      <a:endParaRPr b="1"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Historia: E8-H1 - Necesito definir áreas de interés y su modalidad</a:t>
                      </a:r>
                      <a:endParaRPr b="1"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Historia: E9-H1 - Necesito definir la cantidad de horas que quiero invertir en el área de interés seleccionado</a:t>
                      </a:r>
                      <a:endParaRPr b="1"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</a:tr>
              <a:tr h="1073900">
                <a:tc rowSpan="5"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Actividad</a:t>
                      </a:r>
                      <a:endParaRPr b="1"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800"/>
                        <a:t>Crear mapeo de valores predefinidos en DetalleTareaHelper con índices para tiempos (5 a 240 minutos)</a:t>
                      </a:r>
                      <a:endParaRPr sz="800"/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800"/>
                        <a:t>Establecer Jornada predeterminada en RegistroViewModel al crear un usuario nuevo, asignando HoraInicioJornada = 09:00 y HoraFinJornada = 18:00</a:t>
                      </a:r>
                      <a:endParaRPr sz="800"/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800"/>
                        <a:t>Crear mapeos en DetalleTareaHelper con TipoActividadMentalFromIndex</a:t>
                      </a:r>
                      <a:endParaRPr sz="800"/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800"/>
                        <a:t>Crear mapeos en DetalleTareaHelper con TipoActividadFisicaFromIndex (0=null, 1="Activa", 2="Pasiva") y TipoActividadFisicaToIndex para ComboBox en UI</a:t>
                      </a:r>
                      <a:endParaRPr sz="800"/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800"/>
                        <a:t>Implementar enum MetodoTransporte con valores: Pie, Bicicleta, Automovil, TransportePublico</a:t>
                      </a:r>
                      <a:endParaRPr sz="800"/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800"/>
                        <a:t>Implementar propagación de defaults en DetalleTareaHelper.AplicarDefaultsArea()</a:t>
                      </a:r>
                      <a:endParaRPr sz="800"/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800"/>
                        <a:t>Implementar repositorio AreaInteresRepository con CRUD sobre colección MongoDB "AreasInteres"</a:t>
                      </a:r>
                      <a:endParaRPr sz="800"/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800"/>
                        <a:t>Incluir campo HorasSemanales en NewAreaViewModel y en el formulario de NewAreaWindow para definir cuántas horas semanales se desean invertir</a:t>
                      </a:r>
                      <a:endParaRPr sz="800"/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08750">
                <a:tc vMerge="1"/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800"/>
                        <a:t>Incluir ComboBox de TiempoEstimado en NewTaskWindow y en vista de detalle de tarea para selección rápida de duración estimada</a:t>
                      </a:r>
                      <a:endParaRPr sz="800"/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800"/>
                        <a:t>Incluir clasificación mental en NewTaskWindow y vista de detalle de tarea con ComboBox de selección Obligación/Recreación</a:t>
                      </a:r>
                      <a:endParaRPr sz="800"/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800"/>
                        <a:t>Incluir clasificación física en NewTaskWindow y vista de detalle de tarea con ComboBox de selección Activa/Pasiva</a:t>
                      </a:r>
                      <a:endParaRPr sz="800"/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800"/>
                        <a:t>Implementar UbicacionRepository con CRUD sobre colección MongoDB "Ubicaciones"</a:t>
                      </a:r>
                      <a:endParaRPr sz="800"/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800"/>
                        <a:t>Invocar AplicarDefaultsArea() en NewTaskViewModel.GuardarAsync() al crear una nueva tarea asignada a un área</a:t>
                      </a:r>
                      <a:endParaRPr sz="800"/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800"/>
                        <a:t>Construir NewAreaViewModel como ViewModel de diálogo para crear/editar áreas de interés</a:t>
                      </a:r>
                      <a:endParaRPr sz="800"/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02050">
                <a:tc vMerge="1"/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800"/>
                        <a:t>Incluir clasificación mental predeterminada en NewAreaWindow para setear el default del área que se propagará a sus tareas</a:t>
                      </a:r>
                      <a:endParaRPr sz="800"/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800"/>
                        <a:t>Incluir clasificación física predeterminada en NewAreaWindow para setear el default del área</a:t>
                      </a:r>
                      <a:endParaRPr sz="800"/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800"/>
                        <a:t>Construir UbicacionesViewModel con gestión de ubicaciones guardadas</a:t>
                      </a:r>
                      <a:endParaRPr sz="800"/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800"/>
                        <a:t>Invocar AplicarDefaultsArea() en TareaDetailViewModelBase.GuardarDetalleAsync() al cambiar el área de una tarea existente</a:t>
                      </a:r>
                      <a:endParaRPr sz="800"/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800"/>
                        <a:t>Crear vista NewAreaWindow.axaml con formulario de creación/edición de área de interés con ComboBoxes</a:t>
                      </a:r>
                      <a:endParaRPr sz="800"/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81650">
                <a:tc vMerge="1"/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800"/>
                        <a:t>Integrar propagación en AplicarDefaultsArea() para que TipoActividadFisicaPred del área se copie a TipoActividadFisica de la tarea</a:t>
                      </a:r>
                      <a:endParaRPr sz="800"/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800"/>
                        <a:t>Implementar GeoService con integración Google Maps: geocoding, cálculo de tiempo de traslado y rutas</a:t>
                      </a:r>
                      <a:endParaRPr sz="800"/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800"/>
                        <a:t>Implementar propiedad TransportePreferido en UbicacionGuardada con mapeo en GeoService a modos de la API de Google Maps</a:t>
                      </a:r>
                      <a:endParaRPr sz="800"/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800"/>
                        <a:t>Implementar listado de áreas de interés en MainViewModel con colección observable AreasInteres</a:t>
                      </a:r>
                      <a:endParaRPr sz="800"/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04225">
                <a:tc vMerge="1"/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800"/>
                        <a:t>Implementar GeoService con integración Google Maps: geocoding, cálculo de tiempo de traslado y rutas</a:t>
                      </a:r>
                      <a:endParaRPr sz="8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Incluir campos de defaults en NewAreaWindow para que al crear un área se seteen ubicación y transporte predeterminados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Construir AreaInteresViewModel para mostrar tareas filtradas por área de interés</a:t>
                      </a:r>
                      <a:endParaRPr b="1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04225"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800"/>
                        <a:t>Incluir campos de ubicación y transporte en NewTaskWindow y vista de detalle de tarea</a:t>
                      </a:r>
                      <a:endParaRPr sz="800"/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4" name="Google Shape;184;g3eddbf6aca1_0_21"/>
          <p:cNvGraphicFramePr/>
          <p:nvPr/>
        </p:nvGraphicFramePr>
        <p:xfrm>
          <a:off x="-4" y="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{DB644530-E7AB-4248-B79D-80F947CFC1CB}</a:tableStyleId>
              </a:tblPr>
              <a:tblGrid>
                <a:gridCol w="1306700"/>
                <a:gridCol w="6759025"/>
                <a:gridCol w="4126275"/>
              </a:tblGrid>
              <a:tr h="248875">
                <a:tc rowSpan="2"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12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Actividad</a:t>
                      </a:r>
                      <a:endParaRPr b="1"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2"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Sprint 3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E4D5"/>
                    </a:solidFill>
                  </a:tcPr>
                </a:tc>
                <a:tc hMerge="1"/>
              </a:tr>
              <a:tr h="195425">
                <a:tc vMerge="1"/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 12</a:t>
                      </a:r>
                      <a:endParaRPr b="1"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 13</a:t>
                      </a:r>
                      <a:endParaRPr b="1"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E4D5"/>
                    </a:solidFill>
                  </a:tcPr>
                </a:tc>
              </a:tr>
              <a:tr h="783975"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HIstoria de usuario</a:t>
                      </a:r>
                      <a:endParaRPr b="1"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Historia: E2-H1 - Necesito poder generar el cronograma de mi semana de manera automática teniendo en cuenta las horas semanales asignadas</a:t>
                      </a:r>
                      <a:endParaRPr b="1"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Historia: E2-H1 - Necesito poder generar el cronograma de mi semana de manera automática... (Continuación y Cierre)</a:t>
                      </a:r>
                      <a:endParaRPr b="1"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E4D5"/>
                    </a:solidFill>
                  </a:tcPr>
                </a:tc>
              </a:tr>
              <a:tr h="749225">
                <a:tc rowSpan="6"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Actividad</a:t>
                      </a:r>
                      <a:endParaRPr b="1"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Creación de vista de calendario de acuerdo a Mockup (estructura base, grilla semanal y navegación entre semanas)</a:t>
                      </a:r>
                      <a:endParaRPr b="1"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Producir 2 instancias de "generacionSemanal" con orientaciones de distribución distintas: una agrupada y otra alternada</a:t>
                      </a:r>
                      <a:endParaRPr b="1"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15975">
                <a:tc vMerge="1"/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Enlazar (binding) los bloques de interés generados sobre la vista de calendario para su visualización correcta</a:t>
                      </a:r>
                      <a:endParaRPr b="1"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Generar vista de comparación lado a lado de las 2 opciones de generación para que el usuario pueda evaluar visualmente</a:t>
                      </a:r>
                      <a:endParaRPr b="1"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07075">
                <a:tc vMerge="1"/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Crear clase "bloqueInteres" con sus atributos (área de interés, día, hora inicio, duración, modalidad) y validaciones correspondientes</a:t>
                      </a:r>
                      <a:endParaRPr b="1"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Al seleccionar una de las 2 opciones, aplicar la distribución de bloques de interés en el horario del usuario de manera automática</a:t>
                      </a:r>
                      <a:endParaRPr b="1"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313150">
                <a:tc vMerge="1"/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Crear clase "algoritmoDistribucion" con la lógica de cómo distribuir los bloques de interés respetando horas semanales asignadas, priorización y restricciones horarias del usuario</a:t>
                      </a:r>
                      <a:endParaRPr b="1"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Guardar la distribución seleccionada en la BD, asociando cada bloque de interés al usuario y a la semana correspondiente</a:t>
                      </a:r>
                      <a:endParaRPr b="1"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161650">
                <a:tc vMerge="1"/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Crear clase "generacionSemanal" que orqueste el proceso: invocar "algoritmoDistribucion", instanciar los bloques y aplicar validaciones</a:t>
                      </a:r>
                      <a:endParaRPr b="1"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Crear clase "asignadorTareas" que distribuya las tareas concretas del usuario dentro de cada bloque de interés generado, respetando el tiempo estimado</a:t>
                      </a:r>
                      <a:endParaRPr b="1"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82650">
                <a:tc vMerge="1"/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Crear clase "validadorGeneracion" que verifique que la semana generada no tiene solapamientos y respeta el límite horario</a:t>
                      </a:r>
                      <a:endParaRPr b="1"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89" name="Google Shape;189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8"/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</a:t>
            </a: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PlanificApp</a:t>
            </a: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”</a:t>
            </a:r>
            <a:endParaRPr/>
          </a:p>
        </p:txBody>
      </p:sp>
      <p:sp>
        <p:nvSpPr>
          <p:cNvPr id="191" name="Google Shape;191;p8"/>
          <p:cNvSpPr txBox="1"/>
          <p:nvPr/>
        </p:nvSpPr>
        <p:spPr>
          <a:xfrm>
            <a:off x="0" y="1432655"/>
            <a:ext cx="12191999" cy="10156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Arquitectura del software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*Presentar esquema</a:t>
            </a:r>
            <a:endParaRPr/>
          </a:p>
        </p:txBody>
      </p:sp>
      <p:cxnSp>
        <p:nvCxnSpPr>
          <p:cNvPr id="192" name="Google Shape;192;p8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"/>
            <a:headEnd len="sm" w="sm" type="none"/>
            <a:tailEnd len="sm" w="sm" type="none"/>
          </a:ln>
        </p:spPr>
      </p:cxnSp>
      <p:pic>
        <p:nvPicPr>
          <p:cNvPr id="193" name="Google Shape;193;p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649875" y="2553993"/>
            <a:ext cx="7051043" cy="41048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wipe dir="l"/>
  </p:transition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98" name="Google Shape;198;g3ebfb4a75d6_0_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g3ebfb4a75d6_0_1"/>
          <p:cNvSpPr txBox="1"/>
          <p:nvPr/>
        </p:nvSpPr>
        <p:spPr>
          <a:xfrm>
            <a:off x="136188" y="368928"/>
            <a:ext cx="12192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“PlanificApp”</a:t>
            </a:r>
            <a:endParaRPr/>
          </a:p>
        </p:txBody>
      </p:sp>
      <p:sp>
        <p:nvSpPr>
          <p:cNvPr id="200" name="Google Shape;200;g3ebfb4a75d6_0_1"/>
          <p:cNvSpPr txBox="1"/>
          <p:nvPr/>
        </p:nvSpPr>
        <p:spPr>
          <a:xfrm>
            <a:off x="0" y="738230"/>
            <a:ext cx="121920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Arquitectura del software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*Presentar esquema</a:t>
            </a:r>
            <a:endParaRPr/>
          </a:p>
        </p:txBody>
      </p:sp>
      <p:cxnSp>
        <p:nvCxnSpPr>
          <p:cNvPr id="201" name="Google Shape;201;g3ebfb4a75d6_0_1"/>
          <p:cNvCxnSpPr/>
          <p:nvPr/>
        </p:nvCxnSpPr>
        <p:spPr>
          <a:xfrm>
            <a:off x="0" y="758027"/>
            <a:ext cx="4085700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"/>
            <a:headEnd len="sm" w="sm" type="none"/>
            <a:tailEnd len="sm" w="sm" type="none"/>
          </a:ln>
        </p:spPr>
      </p:cxnSp>
      <p:pic>
        <p:nvPicPr>
          <p:cNvPr id="202" name="Google Shape;202;g3ebfb4a75d6_0_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82137" y="854975"/>
            <a:ext cx="7227725" cy="5938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207" name="Google Shape;207;g3ebfb4a75d6_0_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g3ebfb4a75d6_0_9"/>
          <p:cNvSpPr txBox="1"/>
          <p:nvPr/>
        </p:nvSpPr>
        <p:spPr>
          <a:xfrm>
            <a:off x="136188" y="368928"/>
            <a:ext cx="12192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</a:t>
            </a: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PlanificApp</a:t>
            </a: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”</a:t>
            </a:r>
            <a:endParaRPr/>
          </a:p>
        </p:txBody>
      </p:sp>
      <p:sp>
        <p:nvSpPr>
          <p:cNvPr id="209" name="Google Shape;209;g3ebfb4a75d6_0_9"/>
          <p:cNvSpPr txBox="1"/>
          <p:nvPr/>
        </p:nvSpPr>
        <p:spPr>
          <a:xfrm>
            <a:off x="0" y="1432655"/>
            <a:ext cx="121920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Arquitectura del software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*Presentar esquema</a:t>
            </a:r>
            <a:endParaRPr/>
          </a:p>
        </p:txBody>
      </p:sp>
      <p:cxnSp>
        <p:nvCxnSpPr>
          <p:cNvPr id="210" name="Google Shape;210;g3ebfb4a75d6_0_9"/>
          <p:cNvCxnSpPr/>
          <p:nvPr/>
        </p:nvCxnSpPr>
        <p:spPr>
          <a:xfrm>
            <a:off x="0" y="758027"/>
            <a:ext cx="4085700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"/>
            <a:headEnd len="sm" w="sm" type="none"/>
            <a:tailEnd len="sm" w="sm" type="none"/>
          </a:ln>
        </p:spPr>
      </p:cxnSp>
      <p:pic>
        <p:nvPicPr>
          <p:cNvPr id="211" name="Google Shape;211;g3ebfb4a75d6_0_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61741" y="904723"/>
            <a:ext cx="7268525" cy="5738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3f19a204d59_2_0"/>
          <p:cNvSpPr txBox="1"/>
          <p:nvPr>
            <p:ph type="ctrTitle"/>
          </p:nvPr>
        </p:nvSpPr>
        <p:spPr>
          <a:xfrm>
            <a:off x="1429075" y="37046"/>
            <a:ext cx="9144000" cy="1655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/>
              <a:t>Diagrama de despliegue</a:t>
            </a:r>
            <a:endParaRPr/>
          </a:p>
        </p:txBody>
      </p:sp>
      <p:sp>
        <p:nvSpPr>
          <p:cNvPr id="217" name="Google Shape;217;g3f19a204d59_2_0"/>
          <p:cNvSpPr txBox="1"/>
          <p:nvPr>
            <p:ph idx="1" type="subTitle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18" name="Google Shape;218;g3f19a204d59_2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81363" y="2053875"/>
            <a:ext cx="10239375" cy="5124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223" name="Google Shape;223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9"/>
          <p:cNvSpPr txBox="1"/>
          <p:nvPr/>
        </p:nvSpPr>
        <p:spPr>
          <a:xfrm>
            <a:off x="136188" y="368928"/>
            <a:ext cx="12192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“PlanificApp”</a:t>
            </a:r>
            <a:endParaRPr/>
          </a:p>
        </p:txBody>
      </p:sp>
      <p:sp>
        <p:nvSpPr>
          <p:cNvPr id="225" name="Google Shape;225;p9"/>
          <p:cNvSpPr txBox="1"/>
          <p:nvPr/>
        </p:nvSpPr>
        <p:spPr>
          <a:xfrm>
            <a:off x="0" y="762000"/>
            <a:ext cx="12192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357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Modelo de Datos</a:t>
            </a:r>
            <a:endParaRPr b="1" sz="357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26" name="Google Shape;226;p9"/>
          <p:cNvGrpSpPr/>
          <p:nvPr/>
        </p:nvGrpSpPr>
        <p:grpSpPr>
          <a:xfrm>
            <a:off x="1333500" y="1524000"/>
            <a:ext cx="4286400" cy="4953000"/>
            <a:chOff x="1333500" y="1524000"/>
            <a:chExt cx="4286400" cy="4953000"/>
          </a:xfrm>
        </p:grpSpPr>
        <p:sp>
          <p:nvSpPr>
            <p:cNvPr id="227" name="Google Shape;227;p9"/>
            <p:cNvSpPr/>
            <p:nvPr/>
          </p:nvSpPr>
          <p:spPr>
            <a:xfrm>
              <a:off x="1333500" y="1524000"/>
              <a:ext cx="4286400" cy="4953000"/>
            </a:xfrm>
            <a:prstGeom prst="roundRect">
              <a:avLst>
                <a:gd fmla="val 3333" name="adj"/>
              </a:avLst>
            </a:prstGeom>
            <a:solidFill>
              <a:srgbClr val="F8F9FA"/>
            </a:solidFill>
            <a:ln cap="flat" cmpd="sng" w="9525">
              <a:solidFill>
                <a:srgbClr val="E0E0E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" name="Google Shape;228;p9"/>
            <p:cNvSpPr/>
            <p:nvPr/>
          </p:nvSpPr>
          <p:spPr>
            <a:xfrm>
              <a:off x="1333500" y="1524000"/>
              <a:ext cx="4286400" cy="476400"/>
            </a:xfrm>
            <a:prstGeom prst="roundRect">
              <a:avLst>
                <a:gd fmla="val 30000" name="adj"/>
              </a:avLst>
            </a:prstGeom>
            <a:solidFill>
              <a:srgbClr val="18803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" name="Google Shape;229;p9"/>
            <p:cNvSpPr/>
            <p:nvPr/>
          </p:nvSpPr>
          <p:spPr>
            <a:xfrm>
              <a:off x="1333500" y="1809750"/>
              <a:ext cx="4286400" cy="190500"/>
            </a:xfrm>
            <a:prstGeom prst="rect">
              <a:avLst/>
            </a:prstGeom>
            <a:solidFill>
              <a:srgbClr val="18803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" name="Google Shape;230;p9"/>
            <p:cNvSpPr txBox="1"/>
            <p:nvPr/>
          </p:nvSpPr>
          <p:spPr>
            <a:xfrm>
              <a:off x="1333500" y="1524000"/>
              <a:ext cx="42864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-CL" sz="1800">
                  <a:solidFill>
                    <a:srgbClr val="FFFFFF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Usuario</a:t>
              </a:r>
              <a:endParaRPr b="1" sz="180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</p:txBody>
        </p:sp>
        <p:sp>
          <p:nvSpPr>
            <p:cNvPr id="231" name="Google Shape;231;p9"/>
            <p:cNvSpPr txBox="1"/>
            <p:nvPr/>
          </p:nvSpPr>
          <p:spPr>
            <a:xfrm>
              <a:off x="1571625" y="2095500"/>
              <a:ext cx="3810000" cy="419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-CL" sz="1800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• _id</a:t>
              </a:r>
              <a:endParaRPr b="1" sz="18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s-CL" sz="1800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• NombreCompleto</a:t>
              </a:r>
              <a:endParaRPr sz="18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s-CL" sz="1800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• Correo</a:t>
              </a:r>
              <a:endParaRPr sz="18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s-CL" sz="1800">
                  <a:solidFill>
                    <a:srgbClr val="333333"/>
                  </a:solidFill>
                  <a:highlight>
                    <a:srgbClr val="FFF2CC"/>
                  </a:highlight>
                  <a:latin typeface="Arial"/>
                  <a:ea typeface="Arial"/>
                  <a:cs typeface="Arial"/>
                  <a:sym typeface="Arial"/>
                </a:rPr>
                <a:t>• PasswordHash</a:t>
              </a:r>
              <a:endParaRPr sz="1800">
                <a:solidFill>
                  <a:srgbClr val="333333"/>
                </a:solidFill>
                <a:highlight>
                  <a:srgbClr val="FFF2CC"/>
                </a:highlight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s-CL" sz="1800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• RespuestaSeguridad</a:t>
              </a:r>
              <a:endParaRPr sz="18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s-CL" sz="1800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• Region / Comuna</a:t>
              </a:r>
              <a:endParaRPr sz="18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s-CL" sz="1800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• Jornada: Inicio / Fin</a:t>
              </a:r>
              <a:endParaRPr sz="18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s-CL" sz="1800">
                  <a:solidFill>
                    <a:srgbClr val="333333"/>
                  </a:solidFill>
                  <a:highlight>
                    <a:srgbClr val="FCE5CD"/>
                  </a:highlight>
                  <a:latin typeface="Arial"/>
                  <a:ea typeface="Arial"/>
                  <a:cs typeface="Arial"/>
                  <a:sym typeface="Arial"/>
                </a:rPr>
                <a:t>• CuentaConfirmada</a:t>
              </a:r>
              <a:endParaRPr sz="1800">
                <a:solidFill>
                  <a:srgbClr val="333333"/>
                </a:solidFill>
                <a:highlight>
                  <a:srgbClr val="FCE5CD"/>
                </a:highlight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s-CL" sz="1800">
                  <a:solidFill>
                    <a:srgbClr val="333333"/>
                  </a:solidFill>
                  <a:highlight>
                    <a:srgbClr val="FCE5CD"/>
                  </a:highlight>
                  <a:latin typeface="Arial"/>
                  <a:ea typeface="Arial"/>
                  <a:cs typeface="Arial"/>
                  <a:sym typeface="Arial"/>
                </a:rPr>
                <a:t>• TokenConfirmacion</a:t>
              </a:r>
              <a:endParaRPr sz="1800">
                <a:solidFill>
                  <a:srgbClr val="333333"/>
                </a:solidFill>
                <a:highlight>
                  <a:srgbClr val="FCE5CD"/>
                </a:highlight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s-CL" sz="1800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• FecCreacion / FecNacimiento</a:t>
              </a:r>
              <a:endParaRPr sz="18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s-CL" sz="1800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• Ubicacion / UbicacionActual</a:t>
              </a:r>
              <a:endParaRPr sz="18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s-CL" sz="1800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• FotoPerfil</a:t>
              </a:r>
              <a:endParaRPr sz="18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300"/>
                </a:spcAft>
                <a:buNone/>
              </a:pPr>
              <a:r>
                <a:rPr lang="es-CL" sz="1800">
                  <a:solidFill>
                    <a:srgbClr val="333333"/>
                  </a:solidFill>
                  <a:highlight>
                    <a:srgbClr val="FFF2CC"/>
                  </a:highlight>
                  <a:latin typeface="Arial"/>
                  <a:ea typeface="Arial"/>
                  <a:cs typeface="Arial"/>
                  <a:sym typeface="Arial"/>
                </a:rPr>
                <a:t>• EstaActivo</a:t>
              </a:r>
              <a:endParaRPr sz="1800">
                <a:solidFill>
                  <a:srgbClr val="333333"/>
                </a:solidFill>
                <a:highlight>
                  <a:srgbClr val="FFF2CC"/>
                </a:highlight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32" name="Google Shape;232;p9"/>
          <p:cNvGrpSpPr/>
          <p:nvPr/>
        </p:nvGrpSpPr>
        <p:grpSpPr>
          <a:xfrm>
            <a:off x="6572250" y="1524000"/>
            <a:ext cx="4286400" cy="4953000"/>
            <a:chOff x="6572250" y="1524000"/>
            <a:chExt cx="4286400" cy="4953000"/>
          </a:xfrm>
        </p:grpSpPr>
        <p:sp>
          <p:nvSpPr>
            <p:cNvPr id="233" name="Google Shape;233;p9"/>
            <p:cNvSpPr/>
            <p:nvPr/>
          </p:nvSpPr>
          <p:spPr>
            <a:xfrm>
              <a:off x="6572250" y="1524000"/>
              <a:ext cx="4286400" cy="4953000"/>
            </a:xfrm>
            <a:prstGeom prst="roundRect">
              <a:avLst>
                <a:gd fmla="val 3333" name="adj"/>
              </a:avLst>
            </a:prstGeom>
            <a:solidFill>
              <a:srgbClr val="F8F9FA"/>
            </a:solidFill>
            <a:ln cap="flat" cmpd="sng" w="9525">
              <a:solidFill>
                <a:srgbClr val="E0E0E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" name="Google Shape;234;p9"/>
            <p:cNvSpPr/>
            <p:nvPr/>
          </p:nvSpPr>
          <p:spPr>
            <a:xfrm>
              <a:off x="6572250" y="1524000"/>
              <a:ext cx="4286400" cy="476400"/>
            </a:xfrm>
            <a:prstGeom prst="roundRect">
              <a:avLst>
                <a:gd fmla="val 30000" name="adj"/>
              </a:avLst>
            </a:prstGeom>
            <a:solidFill>
              <a:srgbClr val="18803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" name="Google Shape;235;p9"/>
            <p:cNvSpPr/>
            <p:nvPr/>
          </p:nvSpPr>
          <p:spPr>
            <a:xfrm>
              <a:off x="6572250" y="1809750"/>
              <a:ext cx="4286400" cy="190500"/>
            </a:xfrm>
            <a:prstGeom prst="rect">
              <a:avLst/>
            </a:prstGeom>
            <a:solidFill>
              <a:srgbClr val="18803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" name="Google Shape;236;p9"/>
            <p:cNvSpPr txBox="1"/>
            <p:nvPr/>
          </p:nvSpPr>
          <p:spPr>
            <a:xfrm>
              <a:off x="6572250" y="1524000"/>
              <a:ext cx="42864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-CL" sz="1800">
                  <a:solidFill>
                    <a:srgbClr val="FFFFFF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Tareas</a:t>
              </a:r>
              <a:endParaRPr b="1" sz="180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</p:txBody>
        </p:sp>
        <p:sp>
          <p:nvSpPr>
            <p:cNvPr id="237" name="Google Shape;237;p9"/>
            <p:cNvSpPr txBox="1"/>
            <p:nvPr/>
          </p:nvSpPr>
          <p:spPr>
            <a:xfrm>
              <a:off x="6810375" y="2095500"/>
              <a:ext cx="3810000" cy="419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-CL" sz="1800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• _id</a:t>
              </a:r>
              <a:endParaRPr b="1" sz="18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200"/>
                </a:spcBef>
                <a:spcAft>
                  <a:spcPts val="0"/>
                </a:spcAft>
                <a:buNone/>
              </a:pPr>
              <a:r>
                <a:rPr lang="es-CL" sz="1800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• Nombre / Prioridad</a:t>
              </a:r>
              <a:endParaRPr sz="18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200"/>
                </a:spcBef>
                <a:spcAft>
                  <a:spcPts val="0"/>
                </a:spcAft>
                <a:buNone/>
              </a:pPr>
              <a:r>
                <a:rPr lang="es-CL" sz="1800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• Fechas: Inicio / Limite</a:t>
              </a:r>
              <a:endParaRPr sz="18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200"/>
                </a:spcBef>
                <a:spcAft>
                  <a:spcPts val="0"/>
                </a:spcAft>
                <a:buNone/>
              </a:pPr>
              <a:r>
                <a:rPr lang="es-CL" sz="1800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• Horas: Inicio / Fin</a:t>
              </a:r>
              <a:endParaRPr sz="18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200"/>
                </a:spcBef>
                <a:spcAft>
                  <a:spcPts val="0"/>
                </a:spcAft>
                <a:buNone/>
              </a:pPr>
              <a:r>
                <a:rPr lang="es-CL" sz="1800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• Ubicacion / MetodoTransporte</a:t>
              </a:r>
              <a:endParaRPr sz="18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200"/>
                </a:spcBef>
                <a:spcAft>
                  <a:spcPts val="0"/>
                </a:spcAft>
                <a:buNone/>
              </a:pPr>
              <a:r>
                <a:rPr lang="es-CL" sz="1800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• TiempoEstimado / Recordatorio</a:t>
              </a:r>
              <a:endParaRPr sz="18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200"/>
                </a:spcBef>
                <a:spcAft>
                  <a:spcPts val="0"/>
                </a:spcAft>
                <a:buNone/>
              </a:pPr>
              <a:r>
                <a:rPr b="1" lang="es-CL" sz="1800">
                  <a:solidFill>
                    <a:srgbClr val="333333"/>
                  </a:solidFill>
                  <a:highlight>
                    <a:srgbClr val="D9EAD3"/>
                  </a:highlight>
                  <a:latin typeface="Arial"/>
                  <a:ea typeface="Arial"/>
                  <a:cs typeface="Arial"/>
                  <a:sym typeface="Arial"/>
                </a:rPr>
                <a:t>• IdUsuario (Relación)</a:t>
              </a:r>
              <a:endParaRPr b="1" sz="1800">
                <a:solidFill>
                  <a:srgbClr val="333333"/>
                </a:solidFill>
                <a:highlight>
                  <a:srgbClr val="D9EAD3"/>
                </a:highlight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200"/>
                </a:spcBef>
                <a:spcAft>
                  <a:spcPts val="0"/>
                </a:spcAft>
                <a:buNone/>
              </a:pPr>
              <a:r>
                <a:rPr lang="es-CL" sz="1800">
                  <a:solidFill>
                    <a:srgbClr val="333333"/>
                  </a:solidFill>
                  <a:highlight>
                    <a:srgbClr val="FFF2CC"/>
                  </a:highlight>
                  <a:latin typeface="Arial"/>
                  <a:ea typeface="Arial"/>
                  <a:cs typeface="Arial"/>
                  <a:sym typeface="Arial"/>
                </a:rPr>
                <a:t>• Generación: Uso / Modificación</a:t>
              </a:r>
              <a:endParaRPr sz="1800">
                <a:solidFill>
                  <a:srgbClr val="333333"/>
                </a:solidFill>
                <a:highlight>
                  <a:srgbClr val="FFF2CC"/>
                </a:highlight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200"/>
                </a:spcBef>
                <a:spcAft>
                  <a:spcPts val="0"/>
                </a:spcAft>
                <a:buNone/>
              </a:pPr>
              <a:r>
                <a:rPr lang="es-CL" sz="1800">
                  <a:solidFill>
                    <a:srgbClr val="333333"/>
                  </a:solidFill>
                  <a:highlight>
                    <a:srgbClr val="FFF2CC"/>
                  </a:highlight>
                  <a:latin typeface="Arial"/>
                  <a:ea typeface="Arial"/>
                  <a:cs typeface="Arial"/>
                  <a:sym typeface="Arial"/>
                </a:rPr>
                <a:t>• CompletadoEnTiempo</a:t>
              </a:r>
              <a:endParaRPr sz="1800">
                <a:solidFill>
                  <a:srgbClr val="333333"/>
                </a:solidFill>
                <a:highlight>
                  <a:srgbClr val="FFF2CC"/>
                </a:highlight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200"/>
                </a:spcBef>
                <a:spcAft>
                  <a:spcPts val="0"/>
                </a:spcAft>
                <a:buNone/>
              </a:pPr>
              <a:r>
                <a:rPr lang="es-CL" sz="1800">
                  <a:solidFill>
                    <a:srgbClr val="333333"/>
                  </a:solidFill>
                  <a:highlight>
                    <a:srgbClr val="FFF2CC"/>
                  </a:highlight>
                  <a:latin typeface="Arial"/>
                  <a:ea typeface="Arial"/>
                  <a:cs typeface="Arial"/>
                  <a:sym typeface="Arial"/>
                </a:rPr>
                <a:t>• Auditoría: Creación / Completado</a:t>
              </a:r>
              <a:endParaRPr sz="1800">
                <a:solidFill>
                  <a:srgbClr val="333333"/>
                </a:solidFill>
                <a:highlight>
                  <a:srgbClr val="FFF2CC"/>
                </a:highlight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200"/>
                </a:spcBef>
                <a:spcAft>
                  <a:spcPts val="0"/>
                </a:spcAft>
                <a:buNone/>
              </a:pPr>
              <a:r>
                <a:rPr lang="es-CL" sz="1800">
                  <a:solidFill>
                    <a:srgbClr val="333333"/>
                  </a:solidFill>
                  <a:highlight>
                    <a:srgbClr val="FCE5CD"/>
                  </a:highlight>
                  <a:latin typeface="Arial"/>
                  <a:ea typeface="Arial"/>
                  <a:cs typeface="Arial"/>
                  <a:sym typeface="Arial"/>
                </a:rPr>
                <a:t>• Actividad: Física / Mental</a:t>
              </a:r>
              <a:endParaRPr sz="1800">
                <a:solidFill>
                  <a:srgbClr val="333333"/>
                </a:solidFill>
                <a:highlight>
                  <a:srgbClr val="FCE5CD"/>
                </a:highlight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200"/>
                </a:spcBef>
                <a:spcAft>
                  <a:spcPts val="200"/>
                </a:spcAft>
                <a:buNone/>
              </a:pPr>
              <a:r>
                <a:rPr lang="es-CL" sz="1800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• IdAreaInteres</a:t>
              </a:r>
              <a:endParaRPr sz="18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  <p:transition spd="slow">
    <p:wipe dir="l"/>
  </p:transition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2" name="Google Shape;242;g3eddbf6aca1_9_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772154" y="207550"/>
            <a:ext cx="3141300" cy="785400"/>
          </a:xfrm>
          <a:prstGeom prst="rect">
            <a:avLst/>
          </a:prstGeom>
          <a:noFill/>
          <a:ln>
            <a:noFill/>
          </a:ln>
        </p:spPr>
      </p:pic>
      <p:sp>
        <p:nvSpPr>
          <p:cNvPr id="243" name="Google Shape;243;g3eddbf6aca1_9_7"/>
          <p:cNvSpPr txBox="1"/>
          <p:nvPr/>
        </p:nvSpPr>
        <p:spPr>
          <a:xfrm>
            <a:off x="136188" y="368928"/>
            <a:ext cx="12192000" cy="2616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91400" spcFirstLastPara="1" rIns="0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s-CL" sz="1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“PlanificApp”</a:t>
            </a:r>
            <a:endParaRPr b="0" sz="1400">
              <a:solidFill>
                <a:srgbClr val="75707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g3eddbf6aca1_9_7"/>
          <p:cNvSpPr txBox="1"/>
          <p:nvPr/>
        </p:nvSpPr>
        <p:spPr>
          <a:xfrm>
            <a:off x="0" y="763730"/>
            <a:ext cx="12192000" cy="646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4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Modelo de Datos</a:t>
            </a:r>
            <a:endParaRPr b="1" sz="42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45" name="Google Shape;245;g3eddbf6aca1_9_7"/>
          <p:cNvGrpSpPr/>
          <p:nvPr/>
        </p:nvGrpSpPr>
        <p:grpSpPr>
          <a:xfrm>
            <a:off x="381000" y="1524000"/>
            <a:ext cx="3619500" cy="4572000"/>
            <a:chOff x="381000" y="1524000"/>
            <a:chExt cx="3619500" cy="4572000"/>
          </a:xfrm>
        </p:grpSpPr>
        <p:sp>
          <p:nvSpPr>
            <p:cNvPr id="246" name="Google Shape;246;g3eddbf6aca1_9_7"/>
            <p:cNvSpPr/>
            <p:nvPr/>
          </p:nvSpPr>
          <p:spPr>
            <a:xfrm>
              <a:off x="381000" y="1524000"/>
              <a:ext cx="3619500" cy="4572000"/>
            </a:xfrm>
            <a:prstGeom prst="roundRect">
              <a:avLst>
                <a:gd fmla="val 3947" name="adj"/>
              </a:avLst>
            </a:prstGeom>
            <a:solidFill>
              <a:srgbClr val="F8F9FA"/>
            </a:solidFill>
            <a:ln cap="flat" cmpd="sng" w="9525">
              <a:solidFill>
                <a:srgbClr val="E0E0E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" name="Google Shape;247;g3eddbf6aca1_9_7"/>
            <p:cNvSpPr/>
            <p:nvPr/>
          </p:nvSpPr>
          <p:spPr>
            <a:xfrm>
              <a:off x="381000" y="1524000"/>
              <a:ext cx="3619500" cy="476400"/>
            </a:xfrm>
            <a:prstGeom prst="roundRect">
              <a:avLst>
                <a:gd fmla="val 30000" name="adj"/>
              </a:avLst>
            </a:prstGeom>
            <a:solidFill>
              <a:srgbClr val="18803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" name="Google Shape;248;g3eddbf6aca1_9_7"/>
            <p:cNvSpPr/>
            <p:nvPr/>
          </p:nvSpPr>
          <p:spPr>
            <a:xfrm>
              <a:off x="381000" y="1809750"/>
              <a:ext cx="3619500" cy="190500"/>
            </a:xfrm>
            <a:prstGeom prst="rect">
              <a:avLst/>
            </a:prstGeom>
            <a:solidFill>
              <a:srgbClr val="18803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" name="Google Shape;249;g3eddbf6aca1_9_7"/>
            <p:cNvSpPr txBox="1"/>
            <p:nvPr/>
          </p:nvSpPr>
          <p:spPr>
            <a:xfrm>
              <a:off x="381000" y="1524000"/>
              <a:ext cx="36195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-CL" sz="1600">
                  <a:solidFill>
                    <a:srgbClr val="FFFFFF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AreaInteres</a:t>
              </a:r>
              <a:endParaRPr b="1" sz="160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</p:txBody>
        </p:sp>
        <p:sp>
          <p:nvSpPr>
            <p:cNvPr id="250" name="Google Shape;250;g3eddbf6aca1_9_7"/>
            <p:cNvSpPr txBox="1"/>
            <p:nvPr/>
          </p:nvSpPr>
          <p:spPr>
            <a:xfrm>
              <a:off x="571500" y="2095500"/>
              <a:ext cx="3238500" cy="381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-CL"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• _id</a:t>
              </a:r>
              <a:endParaRPr b="1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lang="es-CL" sz="1800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• Nombre</a:t>
              </a:r>
              <a:endParaRPr sz="18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lang="es-CL" sz="1800">
                  <a:solidFill>
                    <a:srgbClr val="333333"/>
                  </a:solidFill>
                  <a:highlight>
                    <a:srgbClr val="FFF2CC"/>
                  </a:highlight>
                  <a:latin typeface="Arial"/>
                  <a:ea typeface="Arial"/>
                  <a:cs typeface="Arial"/>
                  <a:sym typeface="Arial"/>
                </a:rPr>
                <a:t>• GeneracionSemanal</a:t>
              </a:r>
              <a:endParaRPr sz="1800">
                <a:solidFill>
                  <a:srgbClr val="333333"/>
                </a:solidFill>
                <a:highlight>
                  <a:srgbClr val="FFF2CC"/>
                </a:highlight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lang="es-CL" sz="1800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• Prioridad</a:t>
              </a:r>
              <a:endParaRPr sz="18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lang="es-CL" sz="1800">
                  <a:solidFill>
                    <a:srgbClr val="333333"/>
                  </a:solidFill>
                  <a:highlight>
                    <a:srgbClr val="FCE5CD"/>
                  </a:highlight>
                  <a:latin typeface="Arial"/>
                  <a:ea typeface="Arial"/>
                  <a:cs typeface="Arial"/>
                  <a:sym typeface="Arial"/>
                </a:rPr>
                <a:t>• HorasSemanales</a:t>
              </a:r>
              <a:endParaRPr sz="1800">
                <a:solidFill>
                  <a:srgbClr val="333333"/>
                </a:solidFill>
                <a:highlight>
                  <a:srgbClr val="FCE5CD"/>
                </a:highlight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lang="es-CL" sz="1800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• UbicacionPred</a:t>
              </a:r>
              <a:endParaRPr sz="18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lang="es-CL" sz="1800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• MetodoTransportePred</a:t>
              </a:r>
              <a:endParaRPr sz="18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lang="es-CL" sz="1800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• TipoActividadFisicaPred</a:t>
              </a:r>
              <a:endParaRPr sz="18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lang="es-CL" sz="1800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• TipoActividadMentalPred</a:t>
              </a:r>
              <a:endParaRPr sz="18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lang="es-CL" sz="1800">
                  <a:solidFill>
                    <a:srgbClr val="333333"/>
                  </a:solidFill>
                  <a:highlight>
                    <a:srgbClr val="D9EAD3"/>
                  </a:highlight>
                  <a:latin typeface="Arial"/>
                  <a:ea typeface="Arial"/>
                  <a:cs typeface="Arial"/>
                  <a:sym typeface="Arial"/>
                </a:rPr>
                <a:t>• IdUsuario</a:t>
              </a:r>
              <a:endParaRPr sz="1800">
                <a:solidFill>
                  <a:srgbClr val="333333"/>
                </a:solidFill>
                <a:highlight>
                  <a:srgbClr val="D9EAD3"/>
                </a:highlight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lang="es-CL" sz="1800">
                  <a:solidFill>
                    <a:srgbClr val="333333"/>
                  </a:solidFill>
                  <a:highlight>
                    <a:srgbClr val="FFF2CC"/>
                  </a:highlight>
                  <a:latin typeface="Arial"/>
                  <a:ea typeface="Arial"/>
                  <a:cs typeface="Arial"/>
                  <a:sym typeface="Arial"/>
                </a:rPr>
                <a:t>• ColorHex</a:t>
              </a:r>
              <a:endParaRPr sz="1800">
                <a:solidFill>
                  <a:srgbClr val="333333"/>
                </a:solidFill>
                <a:highlight>
                  <a:srgbClr val="FFF2CC"/>
                </a:highlight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51" name="Google Shape;251;g3eddbf6aca1_9_7"/>
          <p:cNvGrpSpPr/>
          <p:nvPr/>
        </p:nvGrpSpPr>
        <p:grpSpPr>
          <a:xfrm>
            <a:off x="4286250" y="1524000"/>
            <a:ext cx="3619500" cy="4572000"/>
            <a:chOff x="4286250" y="1524000"/>
            <a:chExt cx="3619500" cy="4572000"/>
          </a:xfrm>
        </p:grpSpPr>
        <p:sp>
          <p:nvSpPr>
            <p:cNvPr id="252" name="Google Shape;252;g3eddbf6aca1_9_7"/>
            <p:cNvSpPr/>
            <p:nvPr/>
          </p:nvSpPr>
          <p:spPr>
            <a:xfrm>
              <a:off x="4286250" y="1524000"/>
              <a:ext cx="3619500" cy="4572000"/>
            </a:xfrm>
            <a:prstGeom prst="roundRect">
              <a:avLst>
                <a:gd fmla="val 3947" name="adj"/>
              </a:avLst>
            </a:prstGeom>
            <a:solidFill>
              <a:srgbClr val="F8F9FA"/>
            </a:solidFill>
            <a:ln cap="flat" cmpd="sng" w="9525">
              <a:solidFill>
                <a:srgbClr val="E0E0E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" name="Google Shape;253;g3eddbf6aca1_9_7"/>
            <p:cNvSpPr/>
            <p:nvPr/>
          </p:nvSpPr>
          <p:spPr>
            <a:xfrm>
              <a:off x="4286250" y="1524000"/>
              <a:ext cx="3619500" cy="476400"/>
            </a:xfrm>
            <a:prstGeom prst="roundRect">
              <a:avLst>
                <a:gd fmla="val 30000" name="adj"/>
              </a:avLst>
            </a:prstGeom>
            <a:solidFill>
              <a:srgbClr val="18803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" name="Google Shape;254;g3eddbf6aca1_9_7"/>
            <p:cNvSpPr/>
            <p:nvPr/>
          </p:nvSpPr>
          <p:spPr>
            <a:xfrm>
              <a:off x="4286250" y="1809750"/>
              <a:ext cx="3619500" cy="190500"/>
            </a:xfrm>
            <a:prstGeom prst="rect">
              <a:avLst/>
            </a:prstGeom>
            <a:solidFill>
              <a:srgbClr val="18803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" name="Google Shape;255;g3eddbf6aca1_9_7"/>
            <p:cNvSpPr txBox="1"/>
            <p:nvPr/>
          </p:nvSpPr>
          <p:spPr>
            <a:xfrm>
              <a:off x="4286250" y="1524000"/>
              <a:ext cx="36195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-CL" sz="1600">
                  <a:solidFill>
                    <a:srgbClr val="FFFFFF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Ubicaciones</a:t>
              </a:r>
              <a:endParaRPr b="1" sz="160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</p:txBody>
        </p:sp>
        <p:sp>
          <p:nvSpPr>
            <p:cNvPr id="256" name="Google Shape;256;g3eddbf6aca1_9_7"/>
            <p:cNvSpPr txBox="1"/>
            <p:nvPr/>
          </p:nvSpPr>
          <p:spPr>
            <a:xfrm>
              <a:off x="4476750" y="2095500"/>
              <a:ext cx="3238500" cy="381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-CL"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• _id</a:t>
              </a:r>
              <a:endParaRPr b="1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lang="es-CL" sz="1800">
                  <a:solidFill>
                    <a:srgbClr val="333333"/>
                  </a:solidFill>
                  <a:highlight>
                    <a:srgbClr val="D9EAD3"/>
                  </a:highlight>
                  <a:latin typeface="Arial"/>
                  <a:ea typeface="Arial"/>
                  <a:cs typeface="Arial"/>
                  <a:sym typeface="Arial"/>
                </a:rPr>
                <a:t>• IdUsuario</a:t>
              </a:r>
              <a:endParaRPr sz="1800">
                <a:solidFill>
                  <a:srgbClr val="333333"/>
                </a:solidFill>
                <a:highlight>
                  <a:srgbClr val="D9EAD3"/>
                </a:highlight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lang="es-CL" sz="1800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• Nombre</a:t>
              </a:r>
              <a:endParaRPr sz="18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lang="es-CL" sz="1800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• DireccionExacta</a:t>
              </a:r>
              <a:endParaRPr sz="18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lang="es-CL" sz="1800">
                  <a:solidFill>
                    <a:srgbClr val="333333"/>
                  </a:solidFill>
                  <a:highlight>
                    <a:srgbClr val="FCE5CD"/>
                  </a:highlight>
                  <a:latin typeface="Arial"/>
                  <a:ea typeface="Arial"/>
                  <a:cs typeface="Arial"/>
                  <a:sym typeface="Arial"/>
                </a:rPr>
                <a:t>• AreaInteres</a:t>
              </a:r>
              <a:endParaRPr sz="1800">
                <a:solidFill>
                  <a:srgbClr val="333333"/>
                </a:solidFill>
                <a:highlight>
                  <a:srgbClr val="FCE5CD"/>
                </a:highlight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lang="es-CL" sz="1800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• ColorHex</a:t>
              </a:r>
              <a:endParaRPr sz="18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lang="es-CL" sz="1800">
                  <a:solidFill>
                    <a:srgbClr val="333333"/>
                  </a:solidFill>
                  <a:highlight>
                    <a:srgbClr val="FFF2CC"/>
                  </a:highlight>
                  <a:latin typeface="Arial"/>
                  <a:ea typeface="Arial"/>
                  <a:cs typeface="Arial"/>
                  <a:sym typeface="Arial"/>
                </a:rPr>
                <a:t>• TransportePreferido</a:t>
              </a:r>
              <a:endParaRPr sz="1800">
                <a:solidFill>
                  <a:srgbClr val="333333"/>
                </a:solidFill>
                <a:highlight>
                  <a:srgbClr val="FFF2CC"/>
                </a:highlight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lang="es-CL" sz="1800">
                  <a:solidFill>
                    <a:srgbClr val="333333"/>
                  </a:solidFill>
                  <a:highlight>
                    <a:srgbClr val="FFF2CC"/>
                  </a:highlight>
                  <a:latin typeface="Arial"/>
                  <a:ea typeface="Arial"/>
                  <a:cs typeface="Arial"/>
                  <a:sym typeface="Arial"/>
                </a:rPr>
                <a:t>• Latitud</a:t>
              </a:r>
              <a:endParaRPr sz="1800">
                <a:solidFill>
                  <a:srgbClr val="333333"/>
                </a:solidFill>
                <a:highlight>
                  <a:srgbClr val="FFF2CC"/>
                </a:highlight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lang="es-CL" sz="1800">
                  <a:solidFill>
                    <a:srgbClr val="333333"/>
                  </a:solidFill>
                  <a:highlight>
                    <a:srgbClr val="FFF2CC"/>
                  </a:highlight>
                  <a:latin typeface="Arial"/>
                  <a:ea typeface="Arial"/>
                  <a:cs typeface="Arial"/>
                  <a:sym typeface="Arial"/>
                </a:rPr>
                <a:t>• Longitud</a:t>
              </a:r>
              <a:endParaRPr sz="1800">
                <a:solidFill>
                  <a:srgbClr val="333333"/>
                </a:solidFill>
                <a:highlight>
                  <a:srgbClr val="FFF2CC"/>
                </a:highlight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57" name="Google Shape;257;g3eddbf6aca1_9_7"/>
          <p:cNvGrpSpPr/>
          <p:nvPr/>
        </p:nvGrpSpPr>
        <p:grpSpPr>
          <a:xfrm>
            <a:off x="8191500" y="1524000"/>
            <a:ext cx="3619500" cy="4572000"/>
            <a:chOff x="8191500" y="1524000"/>
            <a:chExt cx="3619500" cy="4572000"/>
          </a:xfrm>
        </p:grpSpPr>
        <p:sp>
          <p:nvSpPr>
            <p:cNvPr id="258" name="Google Shape;258;g3eddbf6aca1_9_7"/>
            <p:cNvSpPr/>
            <p:nvPr/>
          </p:nvSpPr>
          <p:spPr>
            <a:xfrm>
              <a:off x="8191500" y="1524000"/>
              <a:ext cx="3619500" cy="4572000"/>
            </a:xfrm>
            <a:prstGeom prst="roundRect">
              <a:avLst>
                <a:gd fmla="val 3947" name="adj"/>
              </a:avLst>
            </a:prstGeom>
            <a:solidFill>
              <a:srgbClr val="F8F9FA"/>
            </a:solidFill>
            <a:ln cap="flat" cmpd="sng" w="9525">
              <a:solidFill>
                <a:srgbClr val="E0E0E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" name="Google Shape;259;g3eddbf6aca1_9_7"/>
            <p:cNvSpPr/>
            <p:nvPr/>
          </p:nvSpPr>
          <p:spPr>
            <a:xfrm>
              <a:off x="8191500" y="1524000"/>
              <a:ext cx="3619500" cy="476400"/>
            </a:xfrm>
            <a:prstGeom prst="roundRect">
              <a:avLst>
                <a:gd fmla="val 30000" name="adj"/>
              </a:avLst>
            </a:prstGeom>
            <a:solidFill>
              <a:srgbClr val="18803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" name="Google Shape;260;g3eddbf6aca1_9_7"/>
            <p:cNvSpPr/>
            <p:nvPr/>
          </p:nvSpPr>
          <p:spPr>
            <a:xfrm>
              <a:off x="8191500" y="1809750"/>
              <a:ext cx="3619500" cy="190500"/>
            </a:xfrm>
            <a:prstGeom prst="rect">
              <a:avLst/>
            </a:prstGeom>
            <a:solidFill>
              <a:srgbClr val="18803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" name="Google Shape;261;g3eddbf6aca1_9_7"/>
            <p:cNvSpPr txBox="1"/>
            <p:nvPr/>
          </p:nvSpPr>
          <p:spPr>
            <a:xfrm>
              <a:off x="8191500" y="1524000"/>
              <a:ext cx="36195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-CL" sz="1600">
                  <a:solidFill>
                    <a:srgbClr val="FFFFFF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BloqueAreasInteres</a:t>
              </a:r>
              <a:endParaRPr b="1" sz="160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</p:txBody>
        </p:sp>
        <p:sp>
          <p:nvSpPr>
            <p:cNvPr id="262" name="Google Shape;262;g3eddbf6aca1_9_7"/>
            <p:cNvSpPr txBox="1"/>
            <p:nvPr/>
          </p:nvSpPr>
          <p:spPr>
            <a:xfrm>
              <a:off x="8382000" y="2095500"/>
              <a:ext cx="3238500" cy="381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-CL"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• __id</a:t>
              </a:r>
              <a:endParaRPr b="1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lang="es-CL" sz="1800">
                  <a:solidFill>
                    <a:srgbClr val="333333"/>
                  </a:solidFill>
                  <a:highlight>
                    <a:srgbClr val="D9EAD3"/>
                  </a:highlight>
                  <a:latin typeface="Arial"/>
                  <a:ea typeface="Arial"/>
                  <a:cs typeface="Arial"/>
                  <a:sym typeface="Arial"/>
                </a:rPr>
                <a:t>• IdAreaInteres</a:t>
              </a:r>
              <a:endParaRPr sz="1800">
                <a:solidFill>
                  <a:srgbClr val="333333"/>
                </a:solidFill>
                <a:highlight>
                  <a:srgbClr val="D9EAD3"/>
                </a:highlight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lang="es-CL" sz="1800">
                  <a:solidFill>
                    <a:srgbClr val="333333"/>
                  </a:solidFill>
                  <a:highlight>
                    <a:srgbClr val="D9EAD3"/>
                  </a:highlight>
                  <a:latin typeface="Arial"/>
                  <a:ea typeface="Arial"/>
                  <a:cs typeface="Arial"/>
                  <a:sym typeface="Arial"/>
                </a:rPr>
                <a:t>• IdUsuario</a:t>
              </a:r>
              <a:endParaRPr sz="1800">
                <a:solidFill>
                  <a:srgbClr val="333333"/>
                </a:solidFill>
                <a:highlight>
                  <a:srgbClr val="D9EAD3"/>
                </a:highlight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lang="es-CL" sz="1800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• Fecha</a:t>
              </a:r>
              <a:endParaRPr sz="18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lang="es-CL" sz="1800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• HoraInicio</a:t>
              </a:r>
              <a:endParaRPr sz="18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lang="es-CL" sz="1800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• HoraFin</a:t>
              </a:r>
              <a:endParaRPr sz="18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7" name="Google Shape;267;g3f19a204d59_1_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772154" y="207550"/>
            <a:ext cx="3141300" cy="785400"/>
          </a:xfrm>
          <a:prstGeom prst="rect">
            <a:avLst/>
          </a:prstGeom>
          <a:noFill/>
          <a:ln>
            <a:noFill/>
          </a:ln>
        </p:spPr>
      </p:pic>
      <p:sp>
        <p:nvSpPr>
          <p:cNvPr id="268" name="Google Shape;268;g3f19a204d59_1_5"/>
          <p:cNvSpPr txBox="1"/>
          <p:nvPr/>
        </p:nvSpPr>
        <p:spPr>
          <a:xfrm>
            <a:off x="136188" y="368928"/>
            <a:ext cx="12192000" cy="2616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91400" spcFirstLastPara="1" rIns="0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s-CL" sz="1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“PlanificApp”</a:t>
            </a:r>
            <a:endParaRPr b="0" sz="1400">
              <a:solidFill>
                <a:srgbClr val="75707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g3f19a204d59_1_5"/>
          <p:cNvSpPr txBox="1"/>
          <p:nvPr/>
        </p:nvSpPr>
        <p:spPr>
          <a:xfrm>
            <a:off x="0" y="763730"/>
            <a:ext cx="12192000" cy="646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4200">
                <a:latin typeface="Calibri"/>
                <a:ea typeface="Calibri"/>
                <a:cs typeface="Calibri"/>
                <a:sym typeface="Calibri"/>
              </a:rPr>
              <a:t>Diagrama de funciones</a:t>
            </a:r>
            <a:endParaRPr b="1" sz="42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70" name="Google Shape;270;g3f19a204d59_1_5" title="Gemini_Generated_Image_sk42zsk42zsk42zs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415425" y="1410230"/>
            <a:ext cx="9215053" cy="514297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275" name="Google Shape;275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276" name="Google Shape;276;p10"/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</a:t>
            </a: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PlanificApp</a:t>
            </a: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”</a:t>
            </a:r>
            <a:endParaRPr/>
          </a:p>
        </p:txBody>
      </p:sp>
      <p:sp>
        <p:nvSpPr>
          <p:cNvPr id="277" name="Google Shape;277;p10"/>
          <p:cNvSpPr txBox="1"/>
          <p:nvPr/>
        </p:nvSpPr>
        <p:spPr>
          <a:xfrm>
            <a:off x="0" y="1432655"/>
            <a:ext cx="12191999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Tecnologías utilizadas</a:t>
            </a:r>
            <a:endParaRPr/>
          </a:p>
        </p:txBody>
      </p:sp>
      <p:cxnSp>
        <p:nvCxnSpPr>
          <p:cNvPr id="278" name="Google Shape;278;p10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"/>
            <a:headEnd len="sm" w="sm" type="none"/>
            <a:tailEnd len="sm" w="sm" type="none"/>
          </a:ln>
        </p:spPr>
      </p:cxnSp>
      <p:pic>
        <p:nvPicPr>
          <p:cNvPr id="279" name="Google Shape;279;p10"/>
          <p:cNvPicPr preferRelativeResize="0"/>
          <p:nvPr/>
        </p:nvPicPr>
        <p:blipFill rotWithShape="1">
          <a:blip r:embed="rId4">
            <a:alphaModFix/>
          </a:blip>
          <a:srcRect b="0" l="19860" r="19630" t="0"/>
          <a:stretch/>
        </p:blipFill>
        <p:spPr>
          <a:xfrm>
            <a:off x="2020300" y="2763360"/>
            <a:ext cx="547200" cy="508666"/>
          </a:xfrm>
          <a:prstGeom prst="rect">
            <a:avLst/>
          </a:prstGeom>
          <a:noFill/>
          <a:ln>
            <a:noFill/>
          </a:ln>
        </p:spPr>
      </p:pic>
      <p:pic>
        <p:nvPicPr>
          <p:cNvPr id="280" name="Google Shape;280;p10"/>
          <p:cNvPicPr preferRelativeResize="0"/>
          <p:nvPr/>
        </p:nvPicPr>
        <p:blipFill rotWithShape="1">
          <a:blip r:embed="rId5">
            <a:alphaModFix/>
          </a:blip>
          <a:srcRect b="0" l="20063" r="19507" t="0"/>
          <a:stretch/>
        </p:blipFill>
        <p:spPr>
          <a:xfrm>
            <a:off x="1022375" y="3102875"/>
            <a:ext cx="1378200" cy="1368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1" name="Google Shape;281;p1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750300" y="2996125"/>
            <a:ext cx="1176159" cy="1581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2" name="Google Shape;282;p10" title="115701-200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109247" y="2694961"/>
            <a:ext cx="1905000" cy="1905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3" name="Google Shape;283;p10" title="Git_icon.svg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8960425" y="3029825"/>
            <a:ext cx="1378202" cy="137822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wipe dir="l"/>
  </p:transition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288" name="Google Shape;288;g3edca487b0d_1_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289" name="Google Shape;289;g3edca487b0d_1_15"/>
          <p:cNvSpPr txBox="1"/>
          <p:nvPr/>
        </p:nvSpPr>
        <p:spPr>
          <a:xfrm>
            <a:off x="136188" y="368928"/>
            <a:ext cx="12192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“PlanificApp”</a:t>
            </a:r>
            <a:endParaRPr/>
          </a:p>
        </p:txBody>
      </p:sp>
      <p:sp>
        <p:nvSpPr>
          <p:cNvPr id="290" name="Google Shape;290;g3edca487b0d_1_15"/>
          <p:cNvSpPr txBox="1"/>
          <p:nvPr/>
        </p:nvSpPr>
        <p:spPr>
          <a:xfrm>
            <a:off x="-187900" y="889855"/>
            <a:ext cx="12192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Herramientas </a:t>
            </a:r>
            <a:r>
              <a:rPr lang="es-CL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utilizadas</a:t>
            </a:r>
            <a:endParaRPr/>
          </a:p>
        </p:txBody>
      </p:sp>
      <p:cxnSp>
        <p:nvCxnSpPr>
          <p:cNvPr id="291" name="Google Shape;291;g3edca487b0d_1_15"/>
          <p:cNvCxnSpPr/>
          <p:nvPr/>
        </p:nvCxnSpPr>
        <p:spPr>
          <a:xfrm>
            <a:off x="0" y="758027"/>
            <a:ext cx="4085700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"/>
            <a:headEnd len="sm" w="sm" type="none"/>
            <a:tailEnd len="sm" w="sm" type="none"/>
          </a:ln>
        </p:spPr>
      </p:cxnSp>
      <p:pic>
        <p:nvPicPr>
          <p:cNvPr id="292" name="Google Shape;292;g3edca487b0d_1_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597750" y="4692391"/>
            <a:ext cx="1490198" cy="1555523"/>
          </a:xfrm>
          <a:prstGeom prst="rect">
            <a:avLst/>
          </a:prstGeom>
          <a:noFill/>
          <a:ln>
            <a:noFill/>
          </a:ln>
        </p:spPr>
      </p:pic>
      <p:pic>
        <p:nvPicPr>
          <p:cNvPr id="293" name="Google Shape;293;g3edca487b0d_1_15" title="Visual_Studio_Icon_2022.svg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38600" y="1974153"/>
            <a:ext cx="1854700" cy="1854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4" name="Google Shape;294;g3edca487b0d_1_15" title="603c5eb831820c3ce6a8f057_603a1586fa052d17fc2a6929_MongoDBAtlas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270125" y="3177040"/>
            <a:ext cx="1841510" cy="184151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5" name="Google Shape;295;g3edca487b0d_1_15" title="Inno_Setup_icon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9458900" y="1847101"/>
            <a:ext cx="1991087" cy="1991087"/>
          </a:xfrm>
          <a:prstGeom prst="rect">
            <a:avLst/>
          </a:prstGeom>
          <a:noFill/>
          <a:ln>
            <a:noFill/>
          </a:ln>
        </p:spPr>
      </p:pic>
      <p:pic>
        <p:nvPicPr>
          <p:cNvPr id="296" name="Google Shape;296;g3edca487b0d_1_15" title="images.jp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94524" y="4561351"/>
            <a:ext cx="1942862" cy="1942862"/>
          </a:xfrm>
          <a:prstGeom prst="rect">
            <a:avLst/>
          </a:prstGeom>
          <a:noFill/>
          <a:ln>
            <a:noFill/>
          </a:ln>
        </p:spPr>
      </p:pic>
      <p:pic>
        <p:nvPicPr>
          <p:cNvPr id="297" name="Google Shape;297;g3edca487b0d_1_15"/>
          <p:cNvPicPr preferRelativeResize="0"/>
          <p:nvPr/>
        </p:nvPicPr>
        <p:blipFill rotWithShape="1">
          <a:blip r:embed="rId9">
            <a:alphaModFix/>
          </a:blip>
          <a:srcRect b="23693" l="27394" r="26589" t="0"/>
          <a:stretch/>
        </p:blipFill>
        <p:spPr>
          <a:xfrm>
            <a:off x="6294851" y="3338175"/>
            <a:ext cx="1490200" cy="1340324"/>
          </a:xfrm>
          <a:prstGeom prst="rect">
            <a:avLst/>
          </a:prstGeom>
          <a:noFill/>
          <a:ln>
            <a:noFill/>
          </a:ln>
        </p:spPr>
      </p:pic>
      <p:pic>
        <p:nvPicPr>
          <p:cNvPr id="298" name="Google Shape;298;g3edca487b0d_1_15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6364437" y="1761761"/>
            <a:ext cx="1351050" cy="1351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9" name="Google Shape;299;g3edca487b0d_1_15" title="gemini-color.png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6410013" y="5244350"/>
            <a:ext cx="1259876" cy="12598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11"/>
          <p:cNvSpPr/>
          <p:nvPr/>
        </p:nvSpPr>
        <p:spPr>
          <a:xfrm>
            <a:off x="0" y="0"/>
            <a:ext cx="12192000" cy="1143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" name="Google Shape;305;p11"/>
          <p:cNvSpPr txBox="1"/>
          <p:nvPr/>
        </p:nvSpPr>
        <p:spPr>
          <a:xfrm>
            <a:off x="571500" y="285750"/>
            <a:ext cx="7620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36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Resultados obtenidos</a:t>
            </a:r>
            <a:endParaRPr b="1" sz="3600">
              <a:solidFill>
                <a:srgbClr val="1E293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06" name="Google Shape;306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772154" y="178784"/>
            <a:ext cx="3141300" cy="7854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07" name="Google Shape;307;p11"/>
          <p:cNvGrpSpPr/>
          <p:nvPr/>
        </p:nvGrpSpPr>
        <p:grpSpPr>
          <a:xfrm>
            <a:off x="571500" y="1714500"/>
            <a:ext cx="5238900" cy="4000500"/>
            <a:chOff x="571500" y="1714500"/>
            <a:chExt cx="5238900" cy="4000500"/>
          </a:xfrm>
        </p:grpSpPr>
        <p:sp>
          <p:nvSpPr>
            <p:cNvPr id="308" name="Google Shape;308;p11"/>
            <p:cNvSpPr/>
            <p:nvPr/>
          </p:nvSpPr>
          <p:spPr>
            <a:xfrm>
              <a:off x="571500" y="1714500"/>
              <a:ext cx="5238900" cy="4000500"/>
            </a:xfrm>
            <a:prstGeom prst="roundRect">
              <a:avLst>
                <a:gd fmla="val 3571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9" name="Google Shape;309;p11"/>
            <p:cNvSpPr/>
            <p:nvPr/>
          </p:nvSpPr>
          <p:spPr>
            <a:xfrm>
              <a:off x="571500" y="1714500"/>
              <a:ext cx="5238900" cy="95400"/>
            </a:xfrm>
            <a:prstGeom prst="roundRect">
              <a:avLst>
                <a:gd fmla="val 50000" name="adj"/>
              </a:avLst>
            </a:prstGeom>
            <a:solidFill>
              <a:srgbClr val="3B82F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0" name="Google Shape;310;p11"/>
            <p:cNvSpPr txBox="1"/>
            <p:nvPr/>
          </p:nvSpPr>
          <p:spPr>
            <a:xfrm>
              <a:off x="857250" y="2058670"/>
              <a:ext cx="5715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CL" sz="4000">
                  <a:solidFill>
                    <a:srgbClr val="3B82F6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terminal</a:t>
              </a:r>
              <a:endParaRPr sz="4000">
                <a:solidFill>
                  <a:srgbClr val="3B82F6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311" name="Google Shape;311;p11"/>
            <p:cNvSpPr txBox="1"/>
            <p:nvPr/>
          </p:nvSpPr>
          <p:spPr>
            <a:xfrm>
              <a:off x="857250" y="2667000"/>
              <a:ext cx="4667400" cy="2857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-CL" sz="2200">
                  <a:solidFill>
                    <a:srgbClr val="1E293B"/>
                  </a:solidFill>
                  <a:latin typeface="Calibri"/>
                  <a:ea typeface="Calibri"/>
                  <a:cs typeface="Calibri"/>
                  <a:sym typeface="Calibri"/>
                </a:rPr>
                <a:t>El ejecutable final de planificApp</a:t>
              </a:r>
              <a:endParaRPr b="1" sz="22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330200" lvl="0" marL="457200" rtl="0" algn="l">
                <a:spcBef>
                  <a:spcPts val="1125"/>
                </a:spcBef>
                <a:spcAft>
                  <a:spcPts val="0"/>
                </a:spcAft>
                <a:buClr>
                  <a:srgbClr val="475569"/>
                </a:buClr>
                <a:buSzPts val="1600"/>
                <a:buFont typeface="Calibri"/>
                <a:buChar char="●"/>
              </a:pPr>
              <a:r>
                <a:rPr b="0" lang="es-CL" sz="1600">
                  <a:solidFill>
                    <a:srgbClr val="475569"/>
                  </a:solidFill>
                  <a:latin typeface="Calibri"/>
                  <a:ea typeface="Calibri"/>
                  <a:cs typeface="Calibri"/>
                  <a:sym typeface="Calibri"/>
                </a:rPr>
                <a:t>Creación de tareas, áreas de interés y organización </a:t>
              </a:r>
              <a:r>
                <a:rPr lang="es-CL" sz="1600">
                  <a:solidFill>
                    <a:srgbClr val="475569"/>
                  </a:solidFill>
                  <a:latin typeface="Calibri"/>
                  <a:ea typeface="Calibri"/>
                  <a:cs typeface="Calibri"/>
                  <a:sym typeface="Calibri"/>
                </a:rPr>
                <a:t>de la propia vida del usuario</a:t>
              </a:r>
              <a:endParaRPr b="0" sz="1600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330200" lvl="0" marL="457200" rtl="0" algn="l">
                <a:spcBef>
                  <a:spcPts val="750"/>
                </a:spcBef>
                <a:spcAft>
                  <a:spcPts val="0"/>
                </a:spcAft>
                <a:buClr>
                  <a:srgbClr val="475569"/>
                </a:buClr>
                <a:buSzPts val="1600"/>
                <a:buFont typeface="Calibri"/>
                <a:buChar char="●"/>
              </a:pPr>
              <a:r>
                <a:rPr b="0" lang="es-CL" sz="1600">
                  <a:solidFill>
                    <a:srgbClr val="475569"/>
                  </a:solidFill>
                  <a:latin typeface="Calibri"/>
                  <a:ea typeface="Calibri"/>
                  <a:cs typeface="Calibri"/>
                  <a:sym typeface="Calibri"/>
                </a:rPr>
                <a:t>Calendario semanal y mensual integrado para mejor </a:t>
              </a:r>
              <a:r>
                <a:rPr lang="es-CL" sz="1600">
                  <a:solidFill>
                    <a:srgbClr val="475569"/>
                  </a:solidFill>
                  <a:latin typeface="Calibri"/>
                  <a:ea typeface="Calibri"/>
                  <a:cs typeface="Calibri"/>
                  <a:sym typeface="Calibri"/>
                </a:rPr>
                <a:t>visualización.</a:t>
              </a:r>
              <a:endParaRPr b="0" sz="1600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330200" lvl="0" marL="457200" rtl="0" algn="l">
                <a:spcBef>
                  <a:spcPts val="750"/>
                </a:spcBef>
                <a:spcAft>
                  <a:spcPts val="0"/>
                </a:spcAft>
                <a:buClr>
                  <a:srgbClr val="475569"/>
                </a:buClr>
                <a:buSzPts val="1600"/>
                <a:buFont typeface="Calibri"/>
                <a:buChar char="●"/>
              </a:pPr>
              <a:r>
                <a:rPr lang="es-CL" sz="1600">
                  <a:solidFill>
                    <a:srgbClr val="475569"/>
                  </a:solidFill>
                  <a:latin typeface="Calibri"/>
                  <a:ea typeface="Calibri"/>
                  <a:cs typeface="Calibri"/>
                  <a:sym typeface="Calibri"/>
                </a:rPr>
                <a:t>Algoritmo </a:t>
              </a:r>
              <a:r>
                <a:rPr b="0" lang="es-CL" sz="1600">
                  <a:solidFill>
                    <a:srgbClr val="475569"/>
                  </a:solidFill>
                  <a:latin typeface="Calibri"/>
                  <a:ea typeface="Calibri"/>
                  <a:cs typeface="Calibri"/>
                  <a:sym typeface="Calibri"/>
                </a:rPr>
                <a:t>de generación semanal para la organización</a:t>
              </a:r>
              <a:r>
                <a:rPr lang="es-CL" sz="1600">
                  <a:solidFill>
                    <a:srgbClr val="475569"/>
                  </a:solidFill>
                  <a:latin typeface="Calibri"/>
                  <a:ea typeface="Calibri"/>
                  <a:cs typeface="Calibri"/>
                  <a:sym typeface="Calibri"/>
                </a:rPr>
                <a:t> personalizada.</a:t>
              </a:r>
              <a:endParaRPr b="0" sz="1600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12" name="Google Shape;312;p11"/>
          <p:cNvGrpSpPr/>
          <p:nvPr/>
        </p:nvGrpSpPr>
        <p:grpSpPr>
          <a:xfrm>
            <a:off x="6381750" y="1714500"/>
            <a:ext cx="5238900" cy="4000500"/>
            <a:chOff x="6381750" y="1714500"/>
            <a:chExt cx="5238900" cy="4000500"/>
          </a:xfrm>
        </p:grpSpPr>
        <p:sp>
          <p:nvSpPr>
            <p:cNvPr id="313" name="Google Shape;313;p11"/>
            <p:cNvSpPr/>
            <p:nvPr/>
          </p:nvSpPr>
          <p:spPr>
            <a:xfrm>
              <a:off x="6381750" y="1714500"/>
              <a:ext cx="5238900" cy="4000500"/>
            </a:xfrm>
            <a:prstGeom prst="roundRect">
              <a:avLst>
                <a:gd fmla="val 3571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4" name="Google Shape;314;p11"/>
            <p:cNvSpPr/>
            <p:nvPr/>
          </p:nvSpPr>
          <p:spPr>
            <a:xfrm>
              <a:off x="6381750" y="1714500"/>
              <a:ext cx="5238900" cy="95400"/>
            </a:xfrm>
            <a:prstGeom prst="roundRect">
              <a:avLst>
                <a:gd fmla="val 50000" name="adj"/>
              </a:avLst>
            </a:prstGeom>
            <a:solidFill>
              <a:srgbClr val="10B98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5" name="Google Shape;315;p11"/>
            <p:cNvSpPr txBox="1"/>
            <p:nvPr/>
          </p:nvSpPr>
          <p:spPr>
            <a:xfrm>
              <a:off x="6667500" y="2058670"/>
              <a:ext cx="5715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CL" sz="4000">
                  <a:solidFill>
                    <a:srgbClr val="10B981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insights</a:t>
              </a:r>
              <a:endParaRPr sz="4000">
                <a:solidFill>
                  <a:srgbClr val="10B981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316" name="Google Shape;316;p11"/>
            <p:cNvSpPr txBox="1"/>
            <p:nvPr/>
          </p:nvSpPr>
          <p:spPr>
            <a:xfrm>
              <a:off x="6667500" y="2667000"/>
              <a:ext cx="4667400" cy="2857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-CL" sz="2200">
                  <a:solidFill>
                    <a:srgbClr val="1E293B"/>
                  </a:solidFill>
                  <a:latin typeface="Calibri"/>
                  <a:ea typeface="Calibri"/>
                  <a:cs typeface="Calibri"/>
                  <a:sym typeface="Calibri"/>
                </a:rPr>
                <a:t>Datos estadísticos de usuario</a:t>
              </a:r>
              <a:endParaRPr b="1" sz="22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330200" lvl="0" marL="457200" rtl="0" algn="l">
                <a:spcBef>
                  <a:spcPts val="1125"/>
                </a:spcBef>
                <a:spcAft>
                  <a:spcPts val="0"/>
                </a:spcAft>
                <a:buClr>
                  <a:srgbClr val="475569"/>
                </a:buClr>
                <a:buSzPts val="1600"/>
                <a:buFont typeface="Calibri"/>
                <a:buChar char="●"/>
              </a:pPr>
              <a:r>
                <a:rPr b="0" lang="es-CL" sz="1600">
                  <a:solidFill>
                    <a:srgbClr val="475569"/>
                  </a:solidFill>
                  <a:latin typeface="Calibri"/>
                  <a:ea typeface="Calibri"/>
                  <a:cs typeface="Calibri"/>
                  <a:sym typeface="Calibri"/>
                </a:rPr>
                <a:t>Monitorización de estado de actividad del usuario</a:t>
              </a:r>
              <a:endParaRPr b="0" sz="1600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330200" lvl="0" marL="457200" rtl="0" algn="l">
                <a:spcBef>
                  <a:spcPts val="750"/>
                </a:spcBef>
                <a:spcAft>
                  <a:spcPts val="0"/>
                </a:spcAft>
                <a:buClr>
                  <a:srgbClr val="475569"/>
                </a:buClr>
                <a:buSzPts val="1600"/>
                <a:buFont typeface="Calibri"/>
                <a:buChar char="●"/>
              </a:pPr>
              <a:r>
                <a:rPr b="0" lang="es-CL" sz="1600">
                  <a:solidFill>
                    <a:srgbClr val="475569"/>
                  </a:solidFill>
                  <a:latin typeface="Calibri"/>
                  <a:ea typeface="Calibri"/>
                  <a:cs typeface="Calibri"/>
                  <a:sym typeface="Calibri"/>
                </a:rPr>
                <a:t>Análisis detallado de frecuencia de uso</a:t>
              </a:r>
              <a:endParaRPr b="0" sz="1600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330200" lvl="0" marL="457200" rtl="0" algn="l">
                <a:spcBef>
                  <a:spcPts val="750"/>
                </a:spcBef>
                <a:spcAft>
                  <a:spcPts val="0"/>
                </a:spcAft>
                <a:buClr>
                  <a:srgbClr val="475569"/>
                </a:buClr>
                <a:buSzPts val="1600"/>
                <a:buFont typeface="Calibri"/>
                <a:buChar char="●"/>
              </a:pPr>
              <a:r>
                <a:rPr b="0" lang="es-CL" sz="1600">
                  <a:solidFill>
                    <a:srgbClr val="475569"/>
                  </a:solidFill>
                  <a:latin typeface="Calibri"/>
                  <a:ea typeface="Calibri"/>
                  <a:cs typeface="Calibri"/>
                  <a:sym typeface="Calibri"/>
                </a:rPr>
                <a:t>Evaluación de rendimiento basada en acciones</a:t>
              </a:r>
              <a:endParaRPr b="0" sz="1600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  <p:transition spd="slow">
    <p:wipe dir="l"/>
  </p:transition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1" name="Google Shape;321;p12"/>
          <p:cNvGrpSpPr/>
          <p:nvPr/>
        </p:nvGrpSpPr>
        <p:grpSpPr>
          <a:xfrm>
            <a:off x="0" y="0"/>
            <a:ext cx="12192000" cy="1143000"/>
            <a:chOff x="0" y="0"/>
            <a:chExt cx="12192000" cy="1143000"/>
          </a:xfrm>
        </p:grpSpPr>
        <p:sp>
          <p:nvSpPr>
            <p:cNvPr id="322" name="Google Shape;322;p12"/>
            <p:cNvSpPr/>
            <p:nvPr/>
          </p:nvSpPr>
          <p:spPr>
            <a:xfrm>
              <a:off x="0" y="0"/>
              <a:ext cx="12192000" cy="1143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3" name="Google Shape;323;p12"/>
            <p:cNvSpPr txBox="1"/>
            <p:nvPr/>
          </p:nvSpPr>
          <p:spPr>
            <a:xfrm>
              <a:off x="571500" y="285750"/>
              <a:ext cx="76200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-CL" sz="3600">
                  <a:solidFill>
                    <a:srgbClr val="1E293B"/>
                  </a:solidFill>
                  <a:latin typeface="Calibri"/>
                  <a:ea typeface="Calibri"/>
                  <a:cs typeface="Calibri"/>
                  <a:sym typeface="Calibri"/>
                </a:rPr>
                <a:t>Obstáculos del Desarrollo</a:t>
              </a:r>
              <a:endParaRPr b="1" sz="36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324" name="Google Shape;324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772154" y="178784"/>
            <a:ext cx="3141300" cy="7854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25" name="Google Shape;325;p12"/>
          <p:cNvGrpSpPr/>
          <p:nvPr/>
        </p:nvGrpSpPr>
        <p:grpSpPr>
          <a:xfrm>
            <a:off x="571500" y="1524000"/>
            <a:ext cx="3429000" cy="3238500"/>
            <a:chOff x="571500" y="1524000"/>
            <a:chExt cx="3429000" cy="3238500"/>
          </a:xfrm>
        </p:grpSpPr>
        <p:sp>
          <p:nvSpPr>
            <p:cNvPr id="326" name="Google Shape;326;p12"/>
            <p:cNvSpPr/>
            <p:nvPr/>
          </p:nvSpPr>
          <p:spPr>
            <a:xfrm>
              <a:off x="571500" y="1524000"/>
              <a:ext cx="3429000" cy="3238500"/>
            </a:xfrm>
            <a:prstGeom prst="roundRect">
              <a:avLst>
                <a:gd fmla="val 4411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7" name="Google Shape;327;p12"/>
            <p:cNvSpPr/>
            <p:nvPr/>
          </p:nvSpPr>
          <p:spPr>
            <a:xfrm>
              <a:off x="571500" y="1524000"/>
              <a:ext cx="3429000" cy="95400"/>
            </a:xfrm>
            <a:prstGeom prst="roundRect">
              <a:avLst>
                <a:gd fmla="val 50000" name="adj"/>
              </a:avLst>
            </a:prstGeom>
            <a:solidFill>
              <a:srgbClr val="F59E0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8" name="Google Shape;328;p12"/>
            <p:cNvSpPr txBox="1"/>
            <p:nvPr/>
          </p:nvSpPr>
          <p:spPr>
            <a:xfrm>
              <a:off x="857250" y="1868170"/>
              <a:ext cx="5715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CL" sz="4000">
                  <a:solidFill>
                    <a:srgbClr val="F59E0B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settings_applications</a:t>
              </a:r>
              <a:endParaRPr sz="4000">
                <a:solidFill>
                  <a:srgbClr val="F59E0B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329" name="Google Shape;329;p12"/>
            <p:cNvSpPr txBox="1"/>
            <p:nvPr/>
          </p:nvSpPr>
          <p:spPr>
            <a:xfrm>
              <a:off x="791550" y="2366325"/>
              <a:ext cx="2988900" cy="1854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-CL" sz="2200">
                  <a:solidFill>
                    <a:srgbClr val="1E293B"/>
                  </a:solidFill>
                  <a:latin typeface="Calibri"/>
                  <a:ea typeface="Calibri"/>
                  <a:cs typeface="Calibri"/>
                  <a:sym typeface="Calibri"/>
                </a:rPr>
                <a:t>Incompatibilidad de Versión</a:t>
              </a:r>
              <a:endParaRPr b="1" sz="22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lang="es-CL" sz="1600">
                  <a:solidFill>
                    <a:srgbClr val="475569"/>
                  </a:solidFill>
                  <a:latin typeface="Calibri"/>
                  <a:ea typeface="Calibri"/>
                  <a:cs typeface="Calibri"/>
                  <a:sym typeface="Calibri"/>
                </a:rPr>
                <a:t>Dificultades técnicas surgidas por el uso de diferentes entornos de desarrollo, afectando la sincronización de versiones.</a:t>
              </a:r>
              <a:endParaRPr sz="1600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30" name="Google Shape;330;p12"/>
          <p:cNvGrpSpPr/>
          <p:nvPr/>
        </p:nvGrpSpPr>
        <p:grpSpPr>
          <a:xfrm>
            <a:off x="4381500" y="1524000"/>
            <a:ext cx="3429000" cy="3238500"/>
            <a:chOff x="4381500" y="1524000"/>
            <a:chExt cx="3429000" cy="3238500"/>
          </a:xfrm>
        </p:grpSpPr>
        <p:sp>
          <p:nvSpPr>
            <p:cNvPr id="331" name="Google Shape;331;p12"/>
            <p:cNvSpPr/>
            <p:nvPr/>
          </p:nvSpPr>
          <p:spPr>
            <a:xfrm>
              <a:off x="4381500" y="1524000"/>
              <a:ext cx="3429000" cy="3238500"/>
            </a:xfrm>
            <a:prstGeom prst="roundRect">
              <a:avLst>
                <a:gd fmla="val 4411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2" name="Google Shape;332;p12"/>
            <p:cNvSpPr/>
            <p:nvPr/>
          </p:nvSpPr>
          <p:spPr>
            <a:xfrm>
              <a:off x="4381500" y="1524000"/>
              <a:ext cx="3429000" cy="95400"/>
            </a:xfrm>
            <a:prstGeom prst="roundRect">
              <a:avLst>
                <a:gd fmla="val 50000" name="adj"/>
              </a:avLst>
            </a:prstGeom>
            <a:solidFill>
              <a:srgbClr val="3B82F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3" name="Google Shape;333;p12"/>
            <p:cNvSpPr txBox="1"/>
            <p:nvPr/>
          </p:nvSpPr>
          <p:spPr>
            <a:xfrm>
              <a:off x="4667250" y="1868170"/>
              <a:ext cx="5715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CL" sz="4000">
                  <a:solidFill>
                    <a:srgbClr val="3B82F6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swap_horiz</a:t>
              </a:r>
              <a:endParaRPr sz="4000">
                <a:solidFill>
                  <a:srgbClr val="3B82F6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334" name="Google Shape;334;p12"/>
            <p:cNvSpPr txBox="1"/>
            <p:nvPr/>
          </p:nvSpPr>
          <p:spPr>
            <a:xfrm>
              <a:off x="4667250" y="2476500"/>
              <a:ext cx="2857500" cy="190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-CL" sz="2200">
                  <a:solidFill>
                    <a:srgbClr val="1E293B"/>
                  </a:solidFill>
                  <a:latin typeface="Calibri"/>
                  <a:ea typeface="Calibri"/>
                  <a:cs typeface="Calibri"/>
                  <a:sym typeface="Calibri"/>
                </a:rPr>
                <a:t>Migración a Avalonia UI</a:t>
              </a:r>
              <a:endParaRPr b="1" sz="22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lang="es-CL" sz="1600">
                  <a:solidFill>
                    <a:srgbClr val="475569"/>
                  </a:solidFill>
                  <a:latin typeface="Calibri"/>
                  <a:ea typeface="Calibri"/>
                  <a:cs typeface="Calibri"/>
                  <a:sym typeface="Calibri"/>
                </a:rPr>
                <a:t>Problemas relacionados con el uso de</a:t>
              </a:r>
              <a:r>
                <a:rPr lang="es-CL" sz="1600">
                  <a:solidFill>
                    <a:srgbClr val="475569"/>
                  </a:solidFill>
                  <a:latin typeface="Calibri"/>
                  <a:ea typeface="Calibri"/>
                  <a:cs typeface="Calibri"/>
                  <a:sym typeface="Calibri"/>
                </a:rPr>
                <a:t> WPF en los distintos IDEs, los cuales motivaron la decisión estratégica de optar por Avalonia UI para el desarrollo.</a:t>
              </a:r>
              <a:endParaRPr sz="1600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35" name="Google Shape;335;p12"/>
          <p:cNvGrpSpPr/>
          <p:nvPr/>
        </p:nvGrpSpPr>
        <p:grpSpPr>
          <a:xfrm>
            <a:off x="8191500" y="1524000"/>
            <a:ext cx="3429000" cy="3238500"/>
            <a:chOff x="8191500" y="1524000"/>
            <a:chExt cx="3429000" cy="3238500"/>
          </a:xfrm>
        </p:grpSpPr>
        <p:sp>
          <p:nvSpPr>
            <p:cNvPr id="336" name="Google Shape;336;p12"/>
            <p:cNvSpPr/>
            <p:nvPr/>
          </p:nvSpPr>
          <p:spPr>
            <a:xfrm>
              <a:off x="8191500" y="1524000"/>
              <a:ext cx="3429000" cy="3238500"/>
            </a:xfrm>
            <a:prstGeom prst="roundRect">
              <a:avLst>
                <a:gd fmla="val 4411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7" name="Google Shape;337;p12"/>
            <p:cNvSpPr/>
            <p:nvPr/>
          </p:nvSpPr>
          <p:spPr>
            <a:xfrm>
              <a:off x="8191500" y="1524000"/>
              <a:ext cx="3429000" cy="95400"/>
            </a:xfrm>
            <a:prstGeom prst="roundRect">
              <a:avLst>
                <a:gd fmla="val 50000" name="adj"/>
              </a:avLst>
            </a:prstGeom>
            <a:solidFill>
              <a:srgbClr val="EF44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8" name="Google Shape;338;p12"/>
            <p:cNvSpPr txBox="1"/>
            <p:nvPr/>
          </p:nvSpPr>
          <p:spPr>
            <a:xfrm>
              <a:off x="8477250" y="1868170"/>
              <a:ext cx="5715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CL" sz="4000">
                  <a:solidFill>
                    <a:srgbClr val="EF4444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view_quilt</a:t>
              </a:r>
              <a:endParaRPr sz="4000">
                <a:solidFill>
                  <a:srgbClr val="EF4444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339" name="Google Shape;339;p12"/>
            <p:cNvSpPr txBox="1"/>
            <p:nvPr/>
          </p:nvSpPr>
          <p:spPr>
            <a:xfrm>
              <a:off x="8477250" y="2476500"/>
              <a:ext cx="2857500" cy="190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-CL" sz="2200">
                  <a:solidFill>
                    <a:srgbClr val="1E293B"/>
                  </a:solidFill>
                  <a:latin typeface="Calibri"/>
                  <a:ea typeface="Calibri"/>
                  <a:cs typeface="Calibri"/>
                  <a:sym typeface="Calibri"/>
                </a:rPr>
                <a:t>Cargas de Trabajo</a:t>
              </a:r>
              <a:endParaRPr b="1" sz="22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lang="es-CL" sz="1600">
                  <a:solidFill>
                    <a:srgbClr val="475569"/>
                  </a:solidFill>
                  <a:latin typeface="Calibri"/>
                  <a:ea typeface="Calibri"/>
                  <a:cs typeface="Calibri"/>
                  <a:sym typeface="Calibri"/>
                </a:rPr>
                <a:t>Complejidad en la gestión de tiempos y recursos para la realización y diseño de las vistas del sistema.</a:t>
              </a:r>
              <a:endParaRPr sz="1600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  <p:transition spd="slow">
    <p:wipe dir="l"/>
  </p:transition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344" name="Google Shape;34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345" name="Google Shape;345;p13"/>
          <p:cNvSpPr txBox="1"/>
          <p:nvPr/>
        </p:nvSpPr>
        <p:spPr>
          <a:xfrm>
            <a:off x="1" y="2707792"/>
            <a:ext cx="12191999" cy="11387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DEMOSTRACIÓN DEL RESULTADO DEL PROYECTO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*Exposición del sistema</a:t>
            </a:r>
            <a:endParaRPr sz="2400">
              <a:solidFill>
                <a:srgbClr val="75707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slow">
    <p:wipe dir="l"/>
  </p:transition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350" name="Google Shape;350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351" name="Google Shape;351;p14"/>
          <p:cNvSpPr txBox="1"/>
          <p:nvPr/>
        </p:nvSpPr>
        <p:spPr>
          <a:xfrm>
            <a:off x="0" y="3044279"/>
            <a:ext cx="12191999" cy="7694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PREGUNTAS DE LA COMISIÓN</a:t>
            </a:r>
            <a:endParaRPr/>
          </a:p>
        </p:txBody>
      </p:sp>
    </p:spTree>
  </p:cSld>
  <p:clrMapOvr>
    <a:masterClrMapping/>
  </p:clrMapOvr>
  <p:transition spd="slow">
    <p:wipe dir="l"/>
  </p:transition>
</p:sld>
</file>

<file path=ppt/theme/theme1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2023-10-28T21:12:11Z</dcterms:created>
  <dc:creator>Gerardo Galan Cruz</dc:creator>
</cp:coreProperties>
</file>