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Mate"/>
      <p:regular r:id="rId36"/>
      <p: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jNCoyGMOHiQB2hvssSOo2vYWhk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91B8F5-BD34-474F-8320-43994CB299C6}">
  <a:tblStyle styleId="{9391B8F5-BD34-474F-8320-43994CB299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3F8A27C-31D4-474D-940C-DCDD9C65E49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font" Target="fonts/Mate-regular.fntdata"/><Relationship Id="rId37" Type="http://schemas.openxmlformats.org/officeDocument/2006/relationships/font" Target="fonts/Mate-italic.fntdata"/><Relationship Id="rId38" Type="http://schemas.openxmlformats.org/officeDocument/2006/relationships/font" Target="fonts/Lato-regular.fntdata"/><Relationship Id="rId39" Type="http://schemas.openxmlformats.org/officeDocument/2006/relationships/font" Target="fonts/Lato-bold.fntdata"/><Relationship Id="rId40" Type="http://schemas.openxmlformats.org/officeDocument/2006/relationships/font" Target="fonts/Lato-italic.fntdata"/><Relationship Id="rId41" Type="http://schemas.openxmlformats.org/officeDocument/2006/relationships/font" Target="fonts/Lato-boldItalic.fntdata"/><Relationship Id="rId42" Type="http://schemas.openxmlformats.org/officeDocument/2006/relationships/font" Target="fonts/Montserrat-regular.fntdata"/><Relationship Id="rId43" Type="http://schemas.openxmlformats.org/officeDocument/2006/relationships/font" Target="fonts/Montserrat-bold.fntdata"/><Relationship Id="rId44" Type="http://schemas.openxmlformats.org/officeDocument/2006/relationships/font" Target="fonts/Montserrat-italic.fntdata"/><Relationship Id="rId45" Type="http://schemas.openxmlformats.org/officeDocument/2006/relationships/font" Target="fonts/Montserrat-boldItalic.fntdata"/><Relationship Id="rId46" Type="http://schemas.openxmlformats.org/officeDocument/2006/relationships/font" Target="fonts/RobotoMono-regular.fntdata"/><Relationship Id="rId47" Type="http://schemas.openxmlformats.org/officeDocument/2006/relationships/font" Target="fonts/RobotoMono-bold.fntdata"/><Relationship Id="rId48" Type="http://schemas.openxmlformats.org/officeDocument/2006/relationships/font" Target="fonts/RobotoMono-italic.fntdata"/><Relationship Id="rId49" Type="http://schemas.openxmlformats.org/officeDocument/2006/relationships/font" Target="fonts/RobotoMono-boldItalic.fntdata"/><Relationship Id="rId5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dca487b0d_2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edca487b0d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dca487b0d_2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edca487b0d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dbf6aca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eddbf6ac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fb4a75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ebfb4a75d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bfb4a75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ebfb4a75d6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19a204d59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19a204d5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ddbf6aca1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eddbf6aca1_9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0e7d9297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f0e7d9297d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dca487b0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edca487b0d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19a204d5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f19a204d59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0e5955bc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f0e5955bc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9.jpg"/><Relationship Id="rId9" Type="http://schemas.openxmlformats.org/officeDocument/2006/relationships/image" Target="../media/image10.png"/><Relationship Id="rId10" Type="http://schemas.openxmlformats.org/officeDocument/2006/relationships/image" Target="../media/image14.png"/><Relationship Id="rId11" Type="http://schemas.openxmlformats.org/officeDocument/2006/relationships/image" Target="../media/image23.png"/><Relationship Id="rId1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.jp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.jp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4" name="Google Shape;94;p2"/>
          <p:cNvSpPr/>
          <p:nvPr/>
        </p:nvSpPr>
        <p:spPr>
          <a:xfrm>
            <a:off x="5681150" y="878300"/>
            <a:ext cx="4085700" cy="20403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43875" y="912350"/>
            <a:ext cx="37182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CL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Claudio Córdova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Creación y revisión de código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681150" y="4009327"/>
            <a:ext cx="4085700" cy="24414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43875" y="4143423"/>
            <a:ext cx="37182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CL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Ian Cortés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Team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Creación y revisión de código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381000" y="285750"/>
            <a:ext cx="12192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1809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0" y="952500"/>
            <a:ext cx="121920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Descripción del Proyecto</a:t>
            </a:r>
            <a:endParaRPr b="1" i="0" sz="40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571500" y="2095500"/>
            <a:ext cx="11049000" cy="4000500"/>
            <a:chOff x="571500" y="2095500"/>
            <a:chExt cx="11049000" cy="4000500"/>
          </a:xfrm>
        </p:grpSpPr>
        <p:sp>
          <p:nvSpPr>
            <p:cNvPr id="106" name="Google Shape;106;p3"/>
            <p:cNvSpPr/>
            <p:nvPr/>
          </p:nvSpPr>
          <p:spPr>
            <a:xfrm>
              <a:off x="571500" y="2095500"/>
              <a:ext cx="5143500" cy="4000500"/>
            </a:xfrm>
            <a:prstGeom prst="roundRect">
              <a:avLst>
                <a:gd fmla="val 4761" name="adj"/>
              </a:avLst>
            </a:prstGeom>
            <a:solidFill>
              <a:srgbClr val="FFF5F5"/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857250" y="2381250"/>
              <a:ext cx="457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L" sz="2400" u="none" cap="none" strike="noStrike">
                  <a:solidFill>
                    <a:srgbClr val="C53030"/>
                  </a:solidFill>
                  <a:latin typeface="Lato"/>
                  <a:ea typeface="Lato"/>
                  <a:cs typeface="Lato"/>
                  <a:sym typeface="Lato"/>
                </a:rPr>
                <a:t>Problema o Dolor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857250" y="3143250"/>
              <a:ext cx="4572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L" sz="2000" u="none" cap="none" strike="noStrike">
                  <a:solidFill>
                    <a:srgbClr val="4A55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 falta de organización en la vida diaria entrega problemas y poca claridad, dificultando el buen desempeño que podemos llegar a tener.</a:t>
              </a:r>
              <a:endParaRPr b="0" i="0" sz="20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9" name="Google Shape;10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6450" y="4076700"/>
              <a:ext cx="419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91250" y="40005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3"/>
            <p:cNvSpPr/>
            <p:nvPr/>
          </p:nvSpPr>
          <p:spPr>
            <a:xfrm>
              <a:off x="6477000" y="2095500"/>
              <a:ext cx="5143500" cy="4000500"/>
            </a:xfrm>
            <a:prstGeom prst="roundRect">
              <a:avLst>
                <a:gd fmla="val 4761" name="adj"/>
              </a:avLst>
            </a:prstGeom>
            <a:solidFill>
              <a:srgbClr val="F0FFF4"/>
            </a:solidFill>
            <a:ln cap="flat" cmpd="sng" w="19050">
              <a:solidFill>
                <a:srgbClr val="6EA5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6762750" y="2381250"/>
              <a:ext cx="457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L" sz="2400" u="none" cap="none" strike="noStrike">
                  <a:solidFill>
                    <a:srgbClr val="2F855A"/>
                  </a:solidFill>
                  <a:latin typeface="Lato"/>
                  <a:ea typeface="Lato"/>
                  <a:cs typeface="Lato"/>
                  <a:sym typeface="Lato"/>
                </a:rPr>
                <a:t>Propuesta de Solución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6762750" y="3143250"/>
              <a:ext cx="4572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L" sz="2000" u="none" cap="none" strike="noStrike">
                  <a:solidFill>
                    <a:srgbClr val="2D374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Desarrollamos una aplicación que contempla un </a:t>
              </a:r>
              <a:r>
                <a:rPr b="1" i="0" lang="es-CL" sz="2000" u="none" cap="none" strike="noStrike">
                  <a:solidFill>
                    <a:srgbClr val="2F85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planificador automático</a:t>
              </a:r>
              <a:r>
                <a:rPr b="0" i="0" lang="es-CL" sz="2000" u="none" cap="none" strike="noStrike">
                  <a:solidFill>
                    <a:srgbClr val="2D374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el cual ayudará al usuario armando un horario que cumpla con sus necesidades, ajustándose en 3 enfoques distintos.</a:t>
              </a:r>
              <a:endParaRPr b="0" i="0" sz="2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81000" y="123825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Objetivos del Proyecto</a:t>
            </a:r>
            <a:endParaRPr b="1" i="0" sz="32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81000" y="2000250"/>
            <a:ext cx="11430000" cy="1524000"/>
          </a:xfrm>
          <a:prstGeom prst="roundRect">
            <a:avLst>
              <a:gd fmla="val 9375" name="adj"/>
            </a:avLst>
          </a:prstGeom>
          <a:solidFill>
            <a:srgbClr val="EEF2FF"/>
          </a:solidFill>
          <a:ln cap="flat" cmpd="sng" w="9525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rPr>
              <a:t>Objetivo General</a:t>
            </a:r>
            <a:endParaRPr b="1" i="0" sz="1800" u="none" cap="none" strike="noStrike">
              <a:solidFill>
                <a:srgbClr val="4472C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Desarrollar una aplicación de escritorio de planificación semanal que permita a los usuarios generar automáticamente un cronograma semanal personalizado y coherente, según el enfoque al que decidan optar.</a:t>
            </a:r>
            <a:endParaRPr b="0" i="0" sz="20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1000" y="3714750"/>
            <a:ext cx="11430000" cy="2857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Objetivos Específicos</a:t>
            </a:r>
            <a:endParaRPr b="0" i="0" sz="14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Alcanzar que un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70% de los usuarios sean de carácter “activo”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en los primeros 3 meses tras el despliegue.</a:t>
            </a:r>
            <a:endParaRPr b="0" i="0" sz="14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Lograr que un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70%  de los usuarios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hagan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uso continuo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del motor de generación 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semanal,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durante 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6 meses desp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ués del despliegue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Lograr que el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60% de las tareas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usadas para generación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no sean modificadas,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durante 3 meses después del despliegue.</a:t>
            </a:r>
            <a:endParaRPr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Que el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80% de las tareas usadas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en generación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sean completadas en tiempo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durante 5 meses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después del despliegue.</a:t>
            </a:r>
            <a:endParaRPr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9059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81000" y="133350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Alcances y limitaciones del proyecto</a:t>
            </a:r>
            <a:endParaRPr b="1" i="0" sz="32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2" name="Google Shape;132;p5"/>
          <p:cNvGrpSpPr/>
          <p:nvPr/>
        </p:nvGrpSpPr>
        <p:grpSpPr>
          <a:xfrm>
            <a:off x="381000" y="2095500"/>
            <a:ext cx="5572200" cy="4381500"/>
            <a:chOff x="381000" y="2095500"/>
            <a:chExt cx="5572200" cy="4381500"/>
          </a:xfrm>
        </p:grpSpPr>
        <p:sp>
          <p:nvSpPr>
            <p:cNvPr id="133" name="Google Shape;133;p5"/>
            <p:cNvSpPr/>
            <p:nvPr/>
          </p:nvSpPr>
          <p:spPr>
            <a:xfrm>
              <a:off x="381000" y="2095500"/>
              <a:ext cx="55722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81000" y="2095500"/>
              <a:ext cx="5572200" cy="571500"/>
            </a:xfrm>
            <a:prstGeom prst="roundRect">
              <a:avLst>
                <a:gd fmla="val 25000" name="adj"/>
              </a:avLst>
            </a:prstGeom>
            <a:solidFill>
              <a:srgbClr val="447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381000" y="2381250"/>
              <a:ext cx="5572200" cy="2859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571500" y="2190750"/>
              <a:ext cx="519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Alcance</a:t>
              </a:r>
              <a:endParaRPr b="1" i="0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571500" y="2809875"/>
              <a:ext cx="5191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Registro Multidimensional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Captura de actividades con metadatos de tipo, ubicación y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áreas de interés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Generación Automática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Motor de sugerencias semanales disponible en 3 enfoques (equilibrado, 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rusheo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, relajado).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Realismo Logístico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Cálculo de traslados mediante Google Maps API, consideración en el tiempo de traslado según ubicaciones y método de transporte asignado.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Datos estadísticos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Generar una interfaz de administrador la cual 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recopila los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datos claves de los usuarios para analizar el funcionamiento de la aplicación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8" name="Google Shape;138;p5"/>
          <p:cNvGrpSpPr/>
          <p:nvPr/>
        </p:nvGrpSpPr>
        <p:grpSpPr>
          <a:xfrm>
            <a:off x="6238875" y="2095500"/>
            <a:ext cx="5572200" cy="4381500"/>
            <a:chOff x="6238875" y="2095500"/>
            <a:chExt cx="5572200" cy="4381500"/>
          </a:xfrm>
        </p:grpSpPr>
        <p:sp>
          <p:nvSpPr>
            <p:cNvPr id="139" name="Google Shape;139;p5"/>
            <p:cNvSpPr/>
            <p:nvPr/>
          </p:nvSpPr>
          <p:spPr>
            <a:xfrm>
              <a:off x="6238875" y="2095500"/>
              <a:ext cx="55722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238875" y="2095500"/>
              <a:ext cx="5572200" cy="571500"/>
            </a:xfrm>
            <a:prstGeom prst="roundRect">
              <a:avLst>
                <a:gd fmla="val 25000" name="adj"/>
              </a:avLst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6238875" y="2381250"/>
              <a:ext cx="5572200" cy="285900"/>
            </a:xfrm>
            <a:prstGeom prst="rect">
              <a:avLst/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6429375" y="2190750"/>
              <a:ext cx="519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Limitaciones</a:t>
              </a:r>
              <a:endParaRPr b="1" i="0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6429375" y="2809875"/>
              <a:ext cx="5191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Integridad de Datos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El sistema no elimina actividades; el usuario gestiona sus prioridades.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Comunicación Social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No es una red social; sin mensajería ni intercambio de archivos.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Restricción Geográfica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Operatividad limitada exclusivamente a Chile.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Integración Externa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No hay s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incronización con Google Calendar (sujeta a validación futura).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Restricciones de Generación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Datos limitados a las áreas de interés consideradas por el usuario.</a:t>
              </a:r>
              <a:endParaRPr/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Sistema de pago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No se ha integrado un sistema de pago dentro de la aplicación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381000" y="133350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Metodología de Trabajo</a:t>
            </a:r>
            <a:endParaRPr b="1" i="0" sz="32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2" name="Google Shape;152;p6"/>
          <p:cNvGrpSpPr/>
          <p:nvPr/>
        </p:nvGrpSpPr>
        <p:grpSpPr>
          <a:xfrm>
            <a:off x="381000" y="2095500"/>
            <a:ext cx="5429400" cy="4000500"/>
            <a:chOff x="381000" y="2095500"/>
            <a:chExt cx="5429400" cy="4000500"/>
          </a:xfrm>
        </p:grpSpPr>
        <p:sp>
          <p:nvSpPr>
            <p:cNvPr id="153" name="Google Shape;153;p6"/>
            <p:cNvSpPr/>
            <p:nvPr/>
          </p:nvSpPr>
          <p:spPr>
            <a:xfrm>
              <a:off x="381000" y="2095500"/>
              <a:ext cx="5429400" cy="4000500"/>
            </a:xfrm>
            <a:prstGeom prst="roundRect">
              <a:avLst>
                <a:gd fmla="val 3571" name="adj"/>
              </a:avLst>
            </a:prstGeom>
            <a:solidFill>
              <a:srgbClr val="F0F4F8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571500" y="2338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4472C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571500" y="2182562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1. Gestión Ágil (Scrum)</a:t>
              </a:r>
              <a:endParaRPr b="1" i="0" sz="20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571500" y="2754050"/>
              <a:ext cx="5022300" cy="32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CL" sz="14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Ciclos Iterativos</a:t>
              </a:r>
              <a:endParaRPr b="1" i="0" sz="14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Sprints diseñados para la agilidad: Fase 0 (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8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semanas)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S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a 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S3 de 2 semanas cada uno.</a:t>
              </a:r>
              <a:endParaRPr b="0" i="0" sz="14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CL" sz="14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Gestión del Backlog</a:t>
              </a:r>
              <a:endParaRPr b="1" i="0" sz="14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Cálculo de esfuerzo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mediante la técnica Planning Poker, dando como resultado 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668 puntos de historia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(secuencia de Fibonacci)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sz="14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s-CL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MoSCoW</a:t>
              </a:r>
              <a:endParaRPr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Fue la técnica utilizada para priorizar qué HU construir primero en el proyecto, se divide en 4 categorías: </a:t>
              </a:r>
              <a:endParaRPr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M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Must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(Debe tener)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Should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(Debería tener)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Could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(Podría tener)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W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Won't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(No tendrá)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6191250" y="2095500"/>
            <a:ext cx="5429400" cy="4000500"/>
            <a:chOff x="6191250" y="2095500"/>
            <a:chExt cx="5429400" cy="4000500"/>
          </a:xfrm>
        </p:grpSpPr>
        <p:sp>
          <p:nvSpPr>
            <p:cNvPr id="158" name="Google Shape;158;p6"/>
            <p:cNvSpPr/>
            <p:nvPr/>
          </p:nvSpPr>
          <p:spPr>
            <a:xfrm>
              <a:off x="6191250" y="2095500"/>
              <a:ext cx="5429400" cy="4000500"/>
            </a:xfrm>
            <a:prstGeom prst="roundRect">
              <a:avLst>
                <a:gd fmla="val 3571" name="adj"/>
              </a:avLst>
            </a:prstGeom>
            <a:solidFill>
              <a:srgbClr val="F0F4F8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6381750" y="2338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4472C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6477000" y="2276312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2. Arquitectura y Desarrollo</a:t>
              </a:r>
              <a:endParaRPr b="1" i="0" sz="20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6477000" y="29527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CL" sz="13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Desarrollo MVVM</a:t>
              </a:r>
              <a:endParaRPr b="1" i="0" sz="13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Separación estricta: View (Presentación), ViewModel (Lógica) y Model (Datos con MongoDB).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CL" sz="13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Control de Versiones</a:t>
              </a:r>
              <a:endParaRPr b="1" i="0" sz="13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Flujo de trabajo Git profesional con ramificación basada en funcionalidades.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CL" sz="13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Modelo C4 para arquitectura</a:t>
              </a:r>
              <a:endParaRPr b="1" i="0" sz="13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Diseño arquitectónico estructurado por capa</a:t>
              </a:r>
              <a:r>
                <a:rPr lang="es-CL" sz="13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-CL" sz="13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Principios </a:t>
              </a:r>
              <a:r>
                <a:rPr b="1" i="0" lang="es-CL" sz="1300" u="none" cap="none" strike="noStrik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S.O.L.I.D.</a:t>
              </a:r>
              <a:endParaRPr b="1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Conjunto de reglas aplicadas al desarrollo de código.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" y="2642131"/>
            <a:ext cx="1219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CL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Actividades clave Sprint 1</a:t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63093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6F0E6"/>
          </a:solidFill>
          <a:ln cap="flat" cmpd="sng" w="12700">
            <a:solidFill>
              <a:srgbClr val="5E8C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88696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5E8C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E1-H1</a:t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88696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Gestión de tareas</a:t>
            </a:r>
            <a:endParaRPr/>
          </a:p>
        </p:txBody>
      </p:sp>
      <p:sp>
        <p:nvSpPr>
          <p:cNvPr id="178" name="Google Shape;178;p27"/>
          <p:cNvSpPr txBox="1"/>
          <p:nvPr/>
        </p:nvSpPr>
        <p:spPr>
          <a:xfrm>
            <a:off x="88696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Clase Tarea con validaciones y vista Inbox para crear, listar y editar las actividades.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437997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FBEBD8"/>
          </a:solidFill>
          <a:ln cap="flat" cmpd="sng" w="12700">
            <a:solidFill>
              <a:srgbClr val="C889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463600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C889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E4-H4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463600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Cuentas seguras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463600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 con contraseñas protegidas por hash (PasswordHelper, SHA256 + salt).</a:t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812901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CE7F5"/>
          </a:solidFill>
          <a:ln cap="flat" cmpd="sng" w="12700">
            <a:solidFill>
              <a:srgbClr val="7E6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838504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7E6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E6-H1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838504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Áreas de interés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838504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Clase AreaInteres y su gestión desde el menú lateral para organizar las tareas por área.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g3edca487b0d_2_30"/>
          <p:cNvGraphicFramePr/>
          <p:nvPr/>
        </p:nvGraphicFramePr>
        <p:xfrm>
          <a:off x="-54" y="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{9391B8F5-BD34-474F-8320-43994CB299C6}</a:tableStyleId>
              </a:tblPr>
              <a:tblGrid>
                <a:gridCol w="663850"/>
                <a:gridCol w="1178525"/>
                <a:gridCol w="1410700"/>
                <a:gridCol w="1192950"/>
                <a:gridCol w="1079525"/>
                <a:gridCol w="1694550"/>
                <a:gridCol w="1417400"/>
                <a:gridCol w="1049600"/>
                <a:gridCol w="1225425"/>
                <a:gridCol w="1279500"/>
              </a:tblGrid>
              <a:tr h="28612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</a:tr>
              <a:tr h="255600">
                <a:tc vMerge="1">
                  <a:txBody>
                    <a:bodyPr/>
                    <a:p/>
                  </a:txBody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</a:tr>
              <a:tr h="1154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E1-H1 - Necesito registrar mis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E1-H2 - Necesito poder visualizar mis actividades (lista y calendario)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E1-H3 - Necesito poder modificar mis actividades creadas (calendario y/o lista)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E1-H4 - Necesito poder eliminar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E4-H1 - Necesito poder registrar una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E4-H4 - Como usuario necesito que mi contraseña se encuentra encriptada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E4-H2 - Necesito poder acceder a mi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E4-H3 - Necesito poder modificar información asociada a mi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E6-H1 - Necesito definir áreas de interés y su modalidad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</a:tr>
              <a:tr h="1154575">
                <a:tc row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clase Tarea con todos los atributos asociados de acuerdo a lo planificado dentro del diseño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inbox de acuerdo a mockup 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una vista de detalle tarea de acuerdo al mockup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botón de "opciones" dentro de la vista de detalle tarea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 Cluster donde almacenar la información de la aplicación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Investigar mecanismos de hash de contraseñas (SHA256 + salt)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una vista de "Login" de acuerdo a mockup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vista de Configuración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clase AreaInteres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45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validaciones asociadas a la creación de instancias de tarea de acuerdo a reglas de negocio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Obtención de actividad sin ningún área de interés asociada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Hacer campos modificables interactuables para escribir dentro de la vista de detalle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despliegue de opciones asociadas a las actividades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la clase Usuario con sus validaciones (método Validate)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la clase PasswordHelper para el hash de contraseñas (SHA256 + salt)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AuthenticationService.Login y LoginViewModel para el ingreso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vista de configuración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lógica asociada a la creación de áreas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15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del código del programa donde almacenar las tareas creadas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Listar todas las actividades obtenidas en vista Inbox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actualización de tareas en TareaRepository.ActualizarTarea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opción de "Eliminar"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de registro de usuario de acuerdo al mockup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del hash de contraseña en la creación de cuentas (PasswordHelper.HashPassword)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los datos ingresados con lo de la BDD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Aplicar los cambios realizados en los campos de "Cuenta" en la BD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 sidebar y un apartado dentro del sideBar del área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45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Invocar ActualizarTarea al guardar el detalle (TareaDetailViewModelBase.GuardarDetalleAsync)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TareaRepository.EliminarTarea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caso de registro exitoso, mostrar mensaje de confirmación; en caso de fallo, mostrar un mensaje de error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verificación de contraseña (PasswordHelper.VerifyPassword) usada por AuthenticationService.Login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caso de ingreso correcto, permitir ingreso a la aplicación; de lo contrario mostrar mensaje de error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un mensaje de confirmación o error según corresponda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3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Eliminar actividad de la colección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Testeo de la verificación de contraseñas contra el hash almacenado (VerifyPassword)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Actividades clave Sprint 2</a:t>
            </a:r>
            <a:endParaRPr/>
          </a:p>
        </p:txBody>
      </p:sp>
      <p:sp>
        <p:nvSpPr>
          <p:cNvPr id="197" name="Google Shape;197;p28"/>
          <p:cNvSpPr/>
          <p:nvPr/>
        </p:nvSpPr>
        <p:spPr>
          <a:xfrm>
            <a:off x="63093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6F0E6"/>
          </a:solidFill>
          <a:ln cap="flat" cmpd="sng" w="12700">
            <a:solidFill>
              <a:srgbClr val="5E8C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88696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5E8C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E5-H1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88696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Geolocalización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88696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GeoService con Google Maps: ubicaciones guardadas, geocodificación y cálculo de traslados y rutas.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437997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FBEBD8"/>
          </a:solidFill>
          <a:ln cap="flat" cmpd="sng" w="12700">
            <a:solidFill>
              <a:srgbClr val="C889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463600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C889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E5-H2</a:t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463600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Áreas con defaults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463600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CRUD de áreas que propagan ubicación y transporte por defecto a sus tareas (AplicarDefaultsArea).</a:t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812901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CE7F5"/>
          </a:solidFill>
          <a:ln cap="flat" cmpd="sng" w="12700">
            <a:solidFill>
              <a:srgbClr val="7E6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838504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7E6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E3-H2</a:t>
            </a:r>
            <a:endParaRPr/>
          </a:p>
        </p:txBody>
      </p:sp>
      <p:sp>
        <p:nvSpPr>
          <p:cNvPr id="207" name="Google Shape;207;p28"/>
          <p:cNvSpPr txBox="1"/>
          <p:nvPr/>
        </p:nvSpPr>
        <p:spPr>
          <a:xfrm>
            <a:off x="838504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Clasificación de tareas</a:t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838504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Tiempo estimado (5–240 min) y clasificación física (Activa/Pasiva) y mental (Obligación/Recreación).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g3edca487b0d_2_53"/>
          <p:cNvGraphicFramePr/>
          <p:nvPr/>
        </p:nvGraphicFramePr>
        <p:xfrm>
          <a:off x="21" y="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{9391B8F5-BD34-474F-8320-43994CB299C6}</a:tableStyleId>
              </a:tblPr>
              <a:tblGrid>
                <a:gridCol w="719925"/>
                <a:gridCol w="1566750"/>
                <a:gridCol w="1279625"/>
                <a:gridCol w="1838425"/>
                <a:gridCol w="1587025"/>
                <a:gridCol w="1438100"/>
                <a:gridCol w="1297175"/>
                <a:gridCol w="1198800"/>
                <a:gridCol w="1266150"/>
              </a:tblGrid>
              <a:tr h="250950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</a:tr>
              <a:tr h="224175">
                <a:tc vMerge="1">
                  <a:txBody>
                    <a:bodyPr/>
                    <a:p/>
                  </a:txBody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</a:tr>
              <a:tr h="13006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E1-H5 - Necesito poder asignar de manera sencilla el tiempo estimado para cada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E8-H1 - Necesito establecer el valor predeterminado acerca de desde qué hora y hasta qué hora del día estaré haciendo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E3-H1 - Necesito poder clasificar las actividades como actividades de "responsabilidad" o de "recreación"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E3-H2 - Necesito poder clasificar las actividades como actividades físicas o mentales.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E5-H1 - Necesito establecer el lugar y el método de transporte que utilizaré para llegar al lugar de mi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E5-H2 - Necesito definir un método de transporte y una ubicación por defecto para mis actividades y áreas de interés...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E6-H1 - Necesito definir áreas de interés y su modalidad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E7-H1 - Necesito definir la cantidad de horas que quiero invertir en el área de interés seleccionado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164125">
                <a:tc row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mapeo de valores predefinidos en DetalleTareaHelper con índices para tiempos (5 a 240 minutos)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Establecer Jornada predeterminada en RegistroViewModel al crear un usuario nuevo, asignando HoraInicioJornada = 07:30 y HoraFinJornada = 22:00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mapeos en DetalleTareaHelper con TipoActividadMentalFromIndex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mapeos en DetalleTareaHelper con TipoActividadFisicaFromIndex (0=null, 1="Activa", 2="Pasiva") y TipoActividadFisicaToIndex para ComboBox en UI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enum MetodoTransporte con valores: Caminar, Auto, Bus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propagación de defaults en DetalleTareaHelper.AplicarDefaultsArea()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repositorio AreaInteresRepository con CRUD sobre colección MongoDB "AreasInteres"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campo HorasSemanales en NewAreaViewModel y en el formulario de NewAreaWindow para definir cuántas horas semanales se desean invertir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5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ComboBox de TiempoEstimado en NewTaskWindow y en vista de detalle de tarea para selección rápida de duración estimada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mental en NewTaskWindow y vista de detalle de tarea con ComboBox de selección Obligación/Recreación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física en NewTaskWindow y vista de detalle de tarea con ComboBox de selección Activa/Pasiva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UbicacionRepository con CRUD sobre colección MongoDB "Ubicaciones"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Invocar AplicarDefaultsArea() en NewTaskViewModel.GuardarAsync() al crear una nueva tarea asignada a un área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Construir NewAreaViewModel como ViewModel de diálogo para crear/editar áreas de interés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5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mental predeterminada en NewAreaWindow para setear el default del área que se propagará a sus tareas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física predeterminada en NewAreaWindow para setear el default del área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Construir UbicacionesViewModel con gestión de ubicaciones guardadas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Invocar AplicarDefaultsArea() en TareaDetailViewModelBase.GuardarDetalleAsync() al cambiar el área de una tarea existente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vista NewAreaWindow.axaml con formulario de creación/edición de área de interés con ComboBoxes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94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Integrar propagación en AplicarDefaultsArea() para que TipoActividadFisicaPred del área se copie a TipoActividadFisica de la tarea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GeoService con integración Google Maps: geocoding, cálculo de tiempo de traslado y rutas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propiedad TransportePreferido en UbicacionGuardada con mapeo en CalendarioSemanalService (TransportePreferidoToEnum) al enum MetodoTransporte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listado de áreas de interés en MainViewModel con colección observable AreasInteres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33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campos de ubicación y transporte en NewTaskWindow y vista de detalle de tarea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Incluir campos de defaults en NewAreaWindow para que al crear un área se seteen ubicación y transporte predeterminados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Construir AreaInteresViewModel para mostrar tareas filtradas por área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Actividades clave Sprint 3</a:t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53949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E6F0E6"/>
          </a:solidFill>
          <a:ln cap="flat" cmpd="sng" w="12700">
            <a:solidFill>
              <a:srgbClr val="5E8C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740664" y="2523744"/>
            <a:ext cx="1143000" cy="420624"/>
          </a:xfrm>
          <a:prstGeom prst="roundRect">
            <a:avLst>
              <a:gd fmla="val 16667" name="adj"/>
            </a:avLst>
          </a:prstGeom>
          <a:solidFill>
            <a:srgbClr val="5E8C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E2-H1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74066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Condiciones de generación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74066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Ventana para elegir días, áreas a considerar y priorización antes de generar la semana.</a:t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337413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FBEBD8"/>
          </a:solidFill>
          <a:ln cap="flat" cmpd="sng" w="12700">
            <a:solidFill>
              <a:srgbClr val="C889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3575304" y="2523744"/>
            <a:ext cx="1143000" cy="420624"/>
          </a:xfrm>
          <a:prstGeom prst="roundRect">
            <a:avLst>
              <a:gd fmla="val 16667" name="adj"/>
            </a:avLst>
          </a:prstGeom>
          <a:solidFill>
            <a:srgbClr val="C889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E2-H1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357530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Motor de generación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357530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GeneradorSemanalService produce 3 propuestas distintas: Equilibrio, Intensiva y Relajado.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620877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ECE7F5"/>
          </a:solidFill>
          <a:ln cap="flat" cmpd="sng" w="12700">
            <a:solidFill>
              <a:srgbClr val="7E6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6409944" y="2523744"/>
            <a:ext cx="1143000" cy="420624"/>
          </a:xfrm>
          <a:prstGeom prst="roundRect">
            <a:avLst>
              <a:gd fmla="val 16667" name="adj"/>
            </a:avLst>
          </a:prstGeom>
          <a:solidFill>
            <a:srgbClr val="7E6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E2-H1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640994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Aplicar al calendario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640994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Comparar las propuestas, aplicar la elegida y guardarla en la base de datos.</a:t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904341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E3EEF0"/>
          </a:solidFill>
          <a:ln cap="flat" cmpd="sng" w="12700">
            <a:solidFill>
              <a:srgbClr val="4E809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9244584" y="2523744"/>
            <a:ext cx="1828800" cy="420624"/>
          </a:xfrm>
          <a:prstGeom prst="roundRect">
            <a:avLst>
              <a:gd fmla="val 16667" name="adj"/>
            </a:avLst>
          </a:prstGeom>
          <a:solidFill>
            <a:srgbClr val="4E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E10-H1 · E4-H5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924458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924458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Estadísticas de usuarios (métricas y filtros) y gestión de cuentas: buscar, ver detalle, suspender y eliminar usuarios.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30"/>
          <p:cNvGraphicFramePr/>
          <p:nvPr/>
        </p:nvGraphicFramePr>
        <p:xfrm>
          <a:off x="64008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{E3F8A27C-31D4-474D-940C-DCDD9C65E49F}</a:tableStyleId>
              </a:tblPr>
              <a:tblGrid>
                <a:gridCol w="1280150"/>
                <a:gridCol w="5394950"/>
                <a:gridCol w="5394950"/>
              </a:tblGrid>
              <a:tr h="2286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b="1" sz="14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228600">
                <a:tc v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S12</a:t>
                      </a:r>
                      <a:endParaRPr b="1" sz="14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E10-H1 - Como administrador necesito ver estadísticas de uso de los usuarios</a:t>
                      </a:r>
                      <a:endParaRPr b="1" sz="11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E4-H5 - Como administrador necesito buscar y gestionar las cuentas de usuario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</a:tr>
              <a:tr h="868675">
                <a:tc row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6575" marB="3657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el cálculo de métricas en EstadisticasViewModel (total y activos reales; el resto estimado con proporciones)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el campo de búsqueda en el listado de usuarios del panel admin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vista de estadísticas del panel de administración (EstadisticasView / EstadisticasViewModel)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el filtrado de usuarios (UsuariosViewModel.AplicarFiltros): nombre/ID, región, comuna y estado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las métricas como tarjetas numéricas (total y activos, uso de generación, tareas creadas/completadas)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vista de detalle de usuario (UsuarioDetalleView / UsuarioDetalleViewModel) accesible desde el listado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los filtros interactivos: pills de meses, navegación por año y filtros por región/comuna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Acciones de cuenta en el detalle: suspender/rehabilitar y eliminar el usuario con borrado en cascada (tareas, áreas, ubicaciones y bloques)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mensaje de confirmación o error al ejecutar una acción sobre la cuenta</a:t>
                      </a:r>
                      <a:endParaRPr b="0" sz="11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g3eddbf6aca1_0_21"/>
          <p:cNvGraphicFramePr/>
          <p:nvPr/>
        </p:nvGraphicFramePr>
        <p:xfrm>
          <a:off x="-4" y="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{9391B8F5-BD34-474F-8320-43994CB299C6}</a:tableStyleId>
              </a:tblPr>
              <a:tblGrid>
                <a:gridCol w="1306700"/>
                <a:gridCol w="6367725"/>
                <a:gridCol w="4517575"/>
              </a:tblGrid>
              <a:tr h="2488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195425">
                <a:tc v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7839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E2-H1 - Necesito poder generar el cronograma de mi semana de manera automática teniendo en cuenta las horas semanales asignadas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E2-H1 - Necesito poder generar el cronograma de mi semana de manera automática... (Continuación y Cierre)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566925">
                <a:tc row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de calendario de acuerdo a Mockup (estructura base, grilla semanal y navegación entre semanas)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Producir 3 propuestas con estrategias distintas: Equilibrio (reparte parejo entre los días), Intensiva (concentra en el día más libre) y Relajado (máximo 2h por día, un área por día)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Enlazar (binding) los bloques de interés generados sobre la vista de calendario para su visualización correcta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la vista de comparación de las 3 propuestas (PropuestasSemanalesView) con previsualización individual (PropuestaPreviewWindow)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clase BloqueCalendario (Tipo = BloqueInteres) con sus atributos (área de interés, hora inicio, hora fin, color, tareas internas), contenida en DiaCalendario/SemanaCalendario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 seleccionar una de las 3 propuestas, aplicar la distribución de bloques en el calendario del usuario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lógica de distribución de bloques en GeneradorSemanalService (respeta horas semanales por área, priorización y jornada del usuario)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Guardar la distribución seleccionada en la BD (CalendarioSemanalService.GuardarCambiosAsync), asociando cada bloque al usuario y la semana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GeneradorSemanalService.GenerarPropuestasAsync que orquesta el proceso: filtra tareas elegibles, distribuye bloques y arma las propuestas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asignación de tareas dentro de cada bloque (GeneradorSemanalService.LlenarBloqueConTareas), respetando el tiempo estimado de cada tarea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las validaciones de la generación en GeneradorSemanalService (propuesta válida/inválida con mensaje, gaps entre bloques, tope de horas por día y jornada)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Integrar los traslados en la generación (GeneradorSemanalService estima el viaje entre áreas con ObtenerMinutosTrasladoAsync) y en el calendario (bloques de tipo SeccionTraslado vía CalendarioSemanalService.CalcularTrasladosAsync)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ventana de Condiciones de Generación (CondicionesGeneracionWindow / CondicionesGeneracionViewModel): selección de días a generar (días pasados deshabilitados y opción de semana siguiente) y de áreas a considerar / no considerar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Calcular la priorización de áreas (por prioridad y tareas por vencer) y el reparto de horas funcionales/libres, construyendo el objeto CondicionesGeneracion que alimenta GenerarPropuestasAsync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/>
              <a:t>Arquitectura del software</a:t>
            </a:r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136188" y="225237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256" name="Google Shape;2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bfb4a75d6_0_1"/>
          <p:cNvSpPr txBox="1"/>
          <p:nvPr/>
        </p:nvSpPr>
        <p:spPr>
          <a:xfrm>
            <a:off x="0" y="738230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g3ebfb4a75d6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263" name="Google Shape;263;g3ebfb4a75d6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093" y="-1"/>
            <a:ext cx="939981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fb4a75d6_0_9"/>
          <p:cNvSpPr txBox="1"/>
          <p:nvPr/>
        </p:nvSpPr>
        <p:spPr>
          <a:xfrm>
            <a:off x="0" y="1432655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g3ebfb4a75d6_0_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270" name="Google Shape;270;g3ebfb4a75d6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136" y="-1"/>
            <a:ext cx="8961728" cy="685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19a204d59_2_0"/>
          <p:cNvSpPr txBox="1"/>
          <p:nvPr>
            <p:ph type="ctrTitle"/>
          </p:nvPr>
        </p:nvSpPr>
        <p:spPr>
          <a:xfrm>
            <a:off x="1429075" y="37046"/>
            <a:ext cx="9144000" cy="8642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Diagrama de despliegue</a:t>
            </a:r>
            <a:endParaRPr/>
          </a:p>
        </p:txBody>
      </p:sp>
      <p:sp>
        <p:nvSpPr>
          <p:cNvPr id="276" name="Google Shape;276;g3f19a204d59_2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77" name="Google Shape;277;g3f19a204d59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5570"/>
            <a:ext cx="12192000" cy="605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0"/>
              <a:buFont typeface="Arial"/>
              <a:buNone/>
            </a:pPr>
            <a:r>
              <a:rPr b="1" i="0" lang="es-CL" sz="35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i="0" sz="3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9"/>
          <p:cNvGrpSpPr/>
          <p:nvPr/>
        </p:nvGrpSpPr>
        <p:grpSpPr>
          <a:xfrm>
            <a:off x="1333500" y="1524000"/>
            <a:ext cx="4286400" cy="4953000"/>
            <a:chOff x="1333500" y="1524000"/>
            <a:chExt cx="4286400" cy="4953000"/>
          </a:xfrm>
        </p:grpSpPr>
        <p:sp>
          <p:nvSpPr>
            <p:cNvPr id="286" name="Google Shape;286;p9"/>
            <p:cNvSpPr/>
            <p:nvPr/>
          </p:nvSpPr>
          <p:spPr>
            <a:xfrm>
              <a:off x="1333500" y="1524000"/>
              <a:ext cx="4286400" cy="495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1333500" y="1524000"/>
              <a:ext cx="42864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1333500" y="1809750"/>
              <a:ext cx="42864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"/>
            <p:cNvSpPr txBox="1"/>
            <p:nvPr/>
          </p:nvSpPr>
          <p:spPr>
            <a:xfrm>
              <a:off x="1333500" y="1524000"/>
              <a:ext cx="428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Usuario</a:t>
              </a:r>
              <a:endParaRPr b="1" i="0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1571625" y="20955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NombreCompleto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Correo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PasswordHash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RespuestaSeguridad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Region / Comuna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Jornada: Inicio / Fin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FecCreacion / FecNacimiento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 / UbicacionActual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FotoPerfil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EstaActivo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6572250" y="1524000"/>
            <a:ext cx="4286400" cy="4953000"/>
            <a:chOff x="6572250" y="1524000"/>
            <a:chExt cx="4286400" cy="4953000"/>
          </a:xfrm>
        </p:grpSpPr>
        <p:sp>
          <p:nvSpPr>
            <p:cNvPr id="292" name="Google Shape;292;p9"/>
            <p:cNvSpPr/>
            <p:nvPr/>
          </p:nvSpPr>
          <p:spPr>
            <a:xfrm>
              <a:off x="6572250" y="1524000"/>
              <a:ext cx="4286400" cy="495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6572250" y="1524000"/>
              <a:ext cx="42864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6572250" y="1809750"/>
              <a:ext cx="42864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"/>
            <p:cNvSpPr txBox="1"/>
            <p:nvPr/>
          </p:nvSpPr>
          <p:spPr>
            <a:xfrm>
              <a:off x="6572250" y="1524000"/>
              <a:ext cx="428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Tareas</a:t>
              </a:r>
              <a:endParaRPr b="1" i="0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96" name="Google Shape;296;p9"/>
            <p:cNvSpPr txBox="1"/>
            <p:nvPr/>
          </p:nvSpPr>
          <p:spPr>
            <a:xfrm>
              <a:off x="6810375" y="20955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 / Prioridad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Fechas: Inicio / Limite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Horas: Inicio / Fin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 / MetodoTransporte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TiempoEstimado / Recordatorio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 (Relación)</a:t>
              </a:r>
              <a:endParaRPr b="1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Generación: Uso / Modificación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CompletadoEnTiempo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Auditoría: Creación / Completado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Actividad: Física / Mental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IdAreaInteres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eddbf6aca1_9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g3eddbf6aca1_9_7"/>
          <p:cNvGrpSpPr/>
          <p:nvPr/>
        </p:nvGrpSpPr>
        <p:grpSpPr>
          <a:xfrm>
            <a:off x="1273575" y="1591800"/>
            <a:ext cx="3619500" cy="4572000"/>
            <a:chOff x="381000" y="1524000"/>
            <a:chExt cx="3619500" cy="4572000"/>
          </a:xfrm>
        </p:grpSpPr>
        <p:sp>
          <p:nvSpPr>
            <p:cNvPr id="303" name="Google Shape;303;g3eddbf6aca1_9_7"/>
            <p:cNvSpPr/>
            <p:nvPr/>
          </p:nvSpPr>
          <p:spPr>
            <a:xfrm>
              <a:off x="3810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eddbf6aca1_9_7"/>
            <p:cNvSpPr/>
            <p:nvPr/>
          </p:nvSpPr>
          <p:spPr>
            <a:xfrm>
              <a:off x="3810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eddbf6aca1_9_7"/>
            <p:cNvSpPr/>
            <p:nvPr/>
          </p:nvSpPr>
          <p:spPr>
            <a:xfrm>
              <a:off x="3810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eddbf6aca1_9_7"/>
            <p:cNvSpPr txBox="1"/>
            <p:nvPr/>
          </p:nvSpPr>
          <p:spPr>
            <a:xfrm>
              <a:off x="3810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AreaInteres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7" name="Google Shape;307;g3eddbf6aca1_9_7"/>
            <p:cNvSpPr txBox="1"/>
            <p:nvPr/>
          </p:nvSpPr>
          <p:spPr>
            <a:xfrm>
              <a:off x="5715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GeneracionSemanal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Prioridad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HorasSemanales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MetodoTransportePred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TipoActividadFisicaPred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TipoActividadMentalPred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ColorHex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g3eddbf6aca1_9_7"/>
          <p:cNvGrpSpPr/>
          <p:nvPr/>
        </p:nvGrpSpPr>
        <p:grpSpPr>
          <a:xfrm>
            <a:off x="6624975" y="1591800"/>
            <a:ext cx="3619500" cy="4572000"/>
            <a:chOff x="4286250" y="1524000"/>
            <a:chExt cx="3619500" cy="4572000"/>
          </a:xfrm>
        </p:grpSpPr>
        <p:sp>
          <p:nvSpPr>
            <p:cNvPr id="309" name="Google Shape;309;g3eddbf6aca1_9_7"/>
            <p:cNvSpPr/>
            <p:nvPr/>
          </p:nvSpPr>
          <p:spPr>
            <a:xfrm>
              <a:off x="428625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eddbf6aca1_9_7"/>
            <p:cNvSpPr/>
            <p:nvPr/>
          </p:nvSpPr>
          <p:spPr>
            <a:xfrm>
              <a:off x="428625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eddbf6aca1_9_7"/>
            <p:cNvSpPr/>
            <p:nvPr/>
          </p:nvSpPr>
          <p:spPr>
            <a:xfrm>
              <a:off x="428625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eddbf6aca1_9_7"/>
            <p:cNvSpPr txBox="1"/>
            <p:nvPr/>
          </p:nvSpPr>
          <p:spPr>
            <a:xfrm>
              <a:off x="428625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Ubicaciones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3" name="Google Shape;313;g3eddbf6aca1_9_7"/>
            <p:cNvSpPr txBox="1"/>
            <p:nvPr/>
          </p:nvSpPr>
          <p:spPr>
            <a:xfrm>
              <a:off x="447675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DireccionExacta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AreaInteres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ColorHex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TransportePreferido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Latitud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Longitud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g3eddbf6aca1_9_7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0"/>
              <a:buFont typeface="Arial"/>
              <a:buNone/>
            </a:pPr>
            <a:r>
              <a:rPr b="1" i="0" lang="es-CL" sz="35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i="0" sz="3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ddbf6aca1_9_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f0e7d9297d_2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g3f0e7d9297d_2_18"/>
          <p:cNvGrpSpPr/>
          <p:nvPr/>
        </p:nvGrpSpPr>
        <p:grpSpPr>
          <a:xfrm>
            <a:off x="913675" y="1674025"/>
            <a:ext cx="3619500" cy="4572000"/>
            <a:chOff x="381000" y="1524000"/>
            <a:chExt cx="3619500" cy="4572000"/>
          </a:xfrm>
        </p:grpSpPr>
        <p:sp>
          <p:nvSpPr>
            <p:cNvPr id="322" name="Google Shape;322;g3f0e7d9297d_2_18"/>
            <p:cNvSpPr/>
            <p:nvPr/>
          </p:nvSpPr>
          <p:spPr>
            <a:xfrm>
              <a:off x="3810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f0e7d9297d_2_18"/>
            <p:cNvSpPr/>
            <p:nvPr/>
          </p:nvSpPr>
          <p:spPr>
            <a:xfrm>
              <a:off x="3810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f0e7d9297d_2_18"/>
            <p:cNvSpPr/>
            <p:nvPr/>
          </p:nvSpPr>
          <p:spPr>
            <a:xfrm>
              <a:off x="3810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f0e7d9297d_2_18"/>
            <p:cNvSpPr txBox="1"/>
            <p:nvPr/>
          </p:nvSpPr>
          <p:spPr>
            <a:xfrm>
              <a:off x="3810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s-CL" sz="1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Generaciones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26" name="Google Shape;326;g3f0e7d9297d_2_18"/>
            <p:cNvSpPr txBox="1"/>
            <p:nvPr/>
          </p:nvSpPr>
          <p:spPr>
            <a:xfrm>
              <a:off x="5715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  <a:highlight>
                    <a:srgbClr val="D9EAD3"/>
                  </a:highlight>
                </a:rPr>
                <a:t>_idUsuario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FecGeneracion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FechaSemana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</a:rPr>
                <a:t>Estrategia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TotalBloques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TotalTareas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g3f0e7d9297d_2_18"/>
          <p:cNvGrpSpPr/>
          <p:nvPr/>
        </p:nvGrpSpPr>
        <p:grpSpPr>
          <a:xfrm>
            <a:off x="6914775" y="1674025"/>
            <a:ext cx="3619500" cy="4572000"/>
            <a:chOff x="8191500" y="1524000"/>
            <a:chExt cx="3619500" cy="4572000"/>
          </a:xfrm>
        </p:grpSpPr>
        <p:sp>
          <p:nvSpPr>
            <p:cNvPr id="328" name="Google Shape;328;g3f0e7d9297d_2_18"/>
            <p:cNvSpPr/>
            <p:nvPr/>
          </p:nvSpPr>
          <p:spPr>
            <a:xfrm>
              <a:off x="81915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f0e7d9297d_2_18"/>
            <p:cNvSpPr/>
            <p:nvPr/>
          </p:nvSpPr>
          <p:spPr>
            <a:xfrm>
              <a:off x="81915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f0e7d9297d_2_18"/>
            <p:cNvSpPr/>
            <p:nvPr/>
          </p:nvSpPr>
          <p:spPr>
            <a:xfrm>
              <a:off x="81915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f0e7d9297d_2_18"/>
            <p:cNvSpPr txBox="1"/>
            <p:nvPr/>
          </p:nvSpPr>
          <p:spPr>
            <a:xfrm>
              <a:off x="81915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BloqueAreasInteres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2" name="Google Shape;332;g3f0e7d9297d_2_18"/>
            <p:cNvSpPr txBox="1"/>
            <p:nvPr/>
          </p:nvSpPr>
          <p:spPr>
            <a:xfrm>
              <a:off x="83820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IdAreaInteres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Fecha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HoraInicio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HoraFin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g3f0e7d9297d_2_1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0e7d9297d_2_18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0"/>
              <a:buFont typeface="Arial"/>
              <a:buNone/>
            </a:pPr>
            <a:r>
              <a:rPr b="1" i="0" lang="es-CL" sz="35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i="0" sz="3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39" name="Google Shape;3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43" name="Google Shape;343;p10"/>
          <p:cNvPicPr preferRelativeResize="0"/>
          <p:nvPr/>
        </p:nvPicPr>
        <p:blipFill rotWithShape="1">
          <a:blip r:embed="rId4">
            <a:alphaModFix/>
          </a:blip>
          <a:srcRect b="0" l="19860" r="19630" t="0"/>
          <a:stretch/>
        </p:blipFill>
        <p:spPr>
          <a:xfrm>
            <a:off x="2020300" y="2763360"/>
            <a:ext cx="547200" cy="508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0"/>
          <p:cNvPicPr preferRelativeResize="0"/>
          <p:nvPr/>
        </p:nvPicPr>
        <p:blipFill rotWithShape="1">
          <a:blip r:embed="rId5">
            <a:alphaModFix/>
          </a:blip>
          <a:srcRect b="0" l="20063" r="19507" t="0"/>
          <a:stretch/>
        </p:blipFill>
        <p:spPr>
          <a:xfrm>
            <a:off x="1022375" y="3102875"/>
            <a:ext cx="1378200" cy="13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0300" y="2996125"/>
            <a:ext cx="1176159" cy="15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0" title="115701-200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9247" y="2694961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0" title="Git_icon.svg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60425" y="3029825"/>
            <a:ext cx="1378202" cy="137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52" name="Google Shape;352;g3edca487b0d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edca487b0d_1_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edca487b0d_1_15"/>
          <p:cNvSpPr txBox="1"/>
          <p:nvPr/>
        </p:nvSpPr>
        <p:spPr>
          <a:xfrm>
            <a:off x="-187900" y="8898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g3edca487b0d_1_1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6" name="Google Shape;356;g3edca487b0d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7750" y="4692391"/>
            <a:ext cx="1490198" cy="155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edca487b0d_1_15" title="Visual_Studio_Icon_2022.svg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00" y="1974153"/>
            <a:ext cx="1854700" cy="18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edca487b0d_1_15" title="603c5eb831820c3ce6a8f057_603a1586fa052d17fc2a6929_MongoDBAtlas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00" y="4406415"/>
            <a:ext cx="1841510" cy="184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edca487b0d_1_15" title="Inno_Setup_icon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9262" y="1478406"/>
            <a:ext cx="2075187" cy="207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edca487b0d_1_15" title="images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524" y="4561351"/>
            <a:ext cx="1942862" cy="1942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edca487b0d_1_15"/>
          <p:cNvPicPr preferRelativeResize="0"/>
          <p:nvPr/>
        </p:nvPicPr>
        <p:blipFill rotWithShape="1">
          <a:blip r:embed="rId9">
            <a:alphaModFix/>
          </a:blip>
          <a:srcRect b="23693" l="27394" r="26589" t="0"/>
          <a:stretch/>
        </p:blipFill>
        <p:spPr>
          <a:xfrm>
            <a:off x="6294851" y="3338175"/>
            <a:ext cx="1490200" cy="134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edca487b0d_1_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64437" y="1761761"/>
            <a:ext cx="1351050" cy="13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edca487b0d_1_15" title="gemini-color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10013" y="5244350"/>
            <a:ext cx="1259876" cy="125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edca487b0d_1_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36600" y="2098662"/>
            <a:ext cx="1555525" cy="15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571500" y="285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1" i="0" sz="36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178784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11"/>
          <p:cNvGrpSpPr/>
          <p:nvPr/>
        </p:nvGrpSpPr>
        <p:grpSpPr>
          <a:xfrm>
            <a:off x="571500" y="1714500"/>
            <a:ext cx="5238900" cy="4000500"/>
            <a:chOff x="571500" y="1714500"/>
            <a:chExt cx="5238900" cy="4000500"/>
          </a:xfrm>
        </p:grpSpPr>
        <p:sp>
          <p:nvSpPr>
            <p:cNvPr id="373" name="Google Shape;373;p11"/>
            <p:cNvSpPr/>
            <p:nvPr/>
          </p:nvSpPr>
          <p:spPr>
            <a:xfrm>
              <a:off x="571500" y="1714500"/>
              <a:ext cx="52389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571500" y="1714500"/>
              <a:ext cx="5238900" cy="95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1"/>
            <p:cNvSpPr txBox="1"/>
            <p:nvPr/>
          </p:nvSpPr>
          <p:spPr>
            <a:xfrm>
              <a:off x="85725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3B82F6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376" name="Google Shape;376;p11"/>
            <p:cNvSpPr txBox="1"/>
            <p:nvPr/>
          </p:nvSpPr>
          <p:spPr>
            <a:xfrm>
              <a:off x="857250" y="2667000"/>
              <a:ext cx="4667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PlanificApp Usuarios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Creación de tareas, áreas de interés y organización de la propia vida del usuario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Calendario semanal y mensual integrado para mejor visualización.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Algoritmo de generación semanal para la organización personalizada.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1"/>
          <p:cNvGrpSpPr/>
          <p:nvPr/>
        </p:nvGrpSpPr>
        <p:grpSpPr>
          <a:xfrm>
            <a:off x="6381750" y="1714500"/>
            <a:ext cx="5238900" cy="4000500"/>
            <a:chOff x="6381750" y="1714500"/>
            <a:chExt cx="5238900" cy="4000500"/>
          </a:xfrm>
        </p:grpSpPr>
        <p:sp>
          <p:nvSpPr>
            <p:cNvPr id="378" name="Google Shape;378;p11"/>
            <p:cNvSpPr/>
            <p:nvPr/>
          </p:nvSpPr>
          <p:spPr>
            <a:xfrm>
              <a:off x="6381750" y="1714500"/>
              <a:ext cx="52389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6381750" y="1714500"/>
              <a:ext cx="5238900" cy="95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1"/>
            <p:cNvSpPr txBox="1"/>
            <p:nvPr/>
          </p:nvSpPr>
          <p:spPr>
            <a:xfrm>
              <a:off x="666750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10B981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381" name="Google Shape;381;p11"/>
            <p:cNvSpPr txBox="1"/>
            <p:nvPr/>
          </p:nvSpPr>
          <p:spPr>
            <a:xfrm>
              <a:off x="6667500" y="2667000"/>
              <a:ext cx="4667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PlanificApp Admin (estadísticos)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Monitorización de estado de actividad del usuario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Análisis detallado de frecuencia de uso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Evaluación de rendimiento basada en acciones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2" name="Google Shape;38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300" y="1953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450" y="1953601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12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389" name="Google Shape;389;p12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2"/>
            <p:cNvSpPr txBox="1"/>
            <p:nvPr/>
          </p:nvSpPr>
          <p:spPr>
            <a:xfrm>
              <a:off x="571500" y="2857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s-CL" sz="36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Obstáculos del Desarrollo</a:t>
              </a:r>
              <a:endParaRPr b="1" i="0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1" name="Google Shape;3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178784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p12"/>
          <p:cNvGrpSpPr/>
          <p:nvPr/>
        </p:nvGrpSpPr>
        <p:grpSpPr>
          <a:xfrm>
            <a:off x="571500" y="1524000"/>
            <a:ext cx="3429000" cy="3238500"/>
            <a:chOff x="571500" y="1524000"/>
            <a:chExt cx="3429000" cy="3238500"/>
          </a:xfrm>
        </p:grpSpPr>
        <p:sp>
          <p:nvSpPr>
            <p:cNvPr id="393" name="Google Shape;393;p12"/>
            <p:cNvSpPr/>
            <p:nvPr/>
          </p:nvSpPr>
          <p:spPr>
            <a:xfrm>
              <a:off x="57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>
              <a:off x="57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2"/>
            <p:cNvSpPr txBox="1"/>
            <p:nvPr/>
          </p:nvSpPr>
          <p:spPr>
            <a:xfrm>
              <a:off x="85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F59E0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396" name="Google Shape;396;p12"/>
            <p:cNvSpPr txBox="1"/>
            <p:nvPr/>
          </p:nvSpPr>
          <p:spPr>
            <a:xfrm>
              <a:off x="791550" y="2366325"/>
              <a:ext cx="2988900" cy="1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Incompatibilidad de Versión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Dificultades técnicas surgidas por el uso de diferentes entornos de desarrollo, afectando la sincronización de versiones.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12"/>
          <p:cNvGrpSpPr/>
          <p:nvPr/>
        </p:nvGrpSpPr>
        <p:grpSpPr>
          <a:xfrm>
            <a:off x="4381500" y="1524000"/>
            <a:ext cx="3429000" cy="3238500"/>
            <a:chOff x="4381500" y="1524000"/>
            <a:chExt cx="3429000" cy="3238500"/>
          </a:xfrm>
        </p:grpSpPr>
        <p:sp>
          <p:nvSpPr>
            <p:cNvPr id="398" name="Google Shape;398;p12"/>
            <p:cNvSpPr/>
            <p:nvPr/>
          </p:nvSpPr>
          <p:spPr>
            <a:xfrm>
              <a:off x="438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2"/>
            <p:cNvSpPr/>
            <p:nvPr/>
          </p:nvSpPr>
          <p:spPr>
            <a:xfrm>
              <a:off x="438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2"/>
            <p:cNvSpPr txBox="1"/>
            <p:nvPr/>
          </p:nvSpPr>
          <p:spPr>
            <a:xfrm>
              <a:off x="466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3B82F6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401" name="Google Shape;401;p12"/>
            <p:cNvSpPr txBox="1"/>
            <p:nvPr/>
          </p:nvSpPr>
          <p:spPr>
            <a:xfrm>
              <a:off x="4667250" y="2476500"/>
              <a:ext cx="2857500" cy="206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Migración a Avalonia UI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Problemas relacionados con el uso de WPF en los distintos IDEs</a:t>
              </a: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y la capacidad multiplataforma de Avalonia motivaron el cambio de tecnología a Avalonia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2"/>
          <p:cNvGrpSpPr/>
          <p:nvPr/>
        </p:nvGrpSpPr>
        <p:grpSpPr>
          <a:xfrm>
            <a:off x="8191500" y="1524000"/>
            <a:ext cx="3429000" cy="3238500"/>
            <a:chOff x="8191500" y="1524000"/>
            <a:chExt cx="3429000" cy="3238500"/>
          </a:xfrm>
        </p:grpSpPr>
        <p:sp>
          <p:nvSpPr>
            <p:cNvPr id="403" name="Google Shape;403;p12"/>
            <p:cNvSpPr/>
            <p:nvPr/>
          </p:nvSpPr>
          <p:spPr>
            <a:xfrm>
              <a:off x="819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2"/>
            <p:cNvSpPr/>
            <p:nvPr/>
          </p:nvSpPr>
          <p:spPr>
            <a:xfrm>
              <a:off x="819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2"/>
            <p:cNvSpPr txBox="1"/>
            <p:nvPr/>
          </p:nvSpPr>
          <p:spPr>
            <a:xfrm>
              <a:off x="847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406" name="Google Shape;406;p12"/>
            <p:cNvSpPr txBox="1"/>
            <p:nvPr/>
          </p:nvSpPr>
          <p:spPr>
            <a:xfrm>
              <a:off x="8477250" y="2476500"/>
              <a:ext cx="2857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Cargas de Trabajo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Complejidad en la gestión de tiempos y recursos para la realización y diseño de las vistas del sistema.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7" name="Google Shape;40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700" y="1716925"/>
            <a:ext cx="1278051" cy="6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9300" y="1685222"/>
            <a:ext cx="687475" cy="68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9600" y="1716924"/>
            <a:ext cx="624050" cy="6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3899" y="1746374"/>
            <a:ext cx="565149" cy="56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15325" y="1746373"/>
            <a:ext cx="687475" cy="68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3f19a204d59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19a204d59_1_5"/>
          <p:cNvSpPr txBox="1"/>
          <p:nvPr/>
        </p:nvSpPr>
        <p:spPr>
          <a:xfrm>
            <a:off x="136188" y="368928"/>
            <a:ext cx="121920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19a204d59_1_5"/>
          <p:cNvSpPr txBox="1"/>
          <p:nvPr/>
        </p:nvSpPr>
        <p:spPr>
          <a:xfrm>
            <a:off x="0" y="763730"/>
            <a:ext cx="12192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s-CL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Diagrama de funciones</a:t>
            </a:r>
            <a:endParaRPr b="1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g3f19a204d59_1_5" title="Diagrama de Funcionalidades PlanificApp-2026-07-05-2258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99875"/>
            <a:ext cx="12192000" cy="4804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24" name="Google Shape;4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30" name="Google Shape;430;g3f0e5955bc2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f0e5955bc2_0_26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36" name="Google Shape;4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